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Inter SemiBold"/>
      <p:regular r:id="rId27"/>
      <p:bold r:id="rId28"/>
      <p:italic r:id="rId29"/>
      <p:boldItalic r:id="rId30"/>
    </p:embeddedFont>
    <p:embeddedFont>
      <p:font typeface="Outfit ExtraBold"/>
      <p:bold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Outfit"/>
      <p:regular r:id="rId36"/>
      <p:bold r:id="rId37"/>
    </p:embeddedFont>
    <p:embeddedFont>
      <p:font typeface="Outfit SemiBol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B43841-686D-4D19-8685-EDB036DF6FB3}">
  <a:tblStyle styleId="{24B43841-686D-4D19-8685-EDB036DF6F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utfitExtraBold-bold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Outfit-bold.fntdata"/><Relationship Id="rId14" Type="http://schemas.openxmlformats.org/officeDocument/2006/relationships/slide" Target="slides/slide8.xml"/><Relationship Id="rId36" Type="http://schemas.openxmlformats.org/officeDocument/2006/relationships/font" Target="fonts/Outfit-regular.fntdata"/><Relationship Id="rId17" Type="http://schemas.openxmlformats.org/officeDocument/2006/relationships/slide" Target="slides/slide11.xml"/><Relationship Id="rId39" Type="http://schemas.openxmlformats.org/officeDocument/2006/relationships/font" Target="fonts/OutfitSemiBold-bold.fntdata"/><Relationship Id="rId16" Type="http://schemas.openxmlformats.org/officeDocument/2006/relationships/slide" Target="slides/slide10.xml"/><Relationship Id="rId38" Type="http://schemas.openxmlformats.org/officeDocument/2006/relationships/font" Target="fonts/Outfit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94f24c06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94f24c06c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94f24c06c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94f24c06c_2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94f24c06c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f94f24c06c_2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94f24c06c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94f24c06c_2_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94f24c06c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f94f24c06c_2_1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94f24c06c_2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f94f24c06c_2_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11.png"/><Relationship Id="rId13" Type="http://schemas.openxmlformats.org/officeDocument/2006/relationships/image" Target="../media/image12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3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55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image" Target="../media/image137.jp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47.png"/><Relationship Id="rId13" Type="http://schemas.openxmlformats.org/officeDocument/2006/relationships/image" Target="../media/image32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9" Type="http://schemas.openxmlformats.org/officeDocument/2006/relationships/image" Target="../media/image33.png"/><Relationship Id="rId15" Type="http://schemas.openxmlformats.org/officeDocument/2006/relationships/image" Target="../media/image26.png"/><Relationship Id="rId14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7.png"/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9" Type="http://schemas.openxmlformats.org/officeDocument/2006/relationships/image" Target="../media/image45.png"/><Relationship Id="rId5" Type="http://schemas.openxmlformats.org/officeDocument/2006/relationships/image" Target="../media/image30.png"/><Relationship Id="rId6" Type="http://schemas.openxmlformats.org/officeDocument/2006/relationships/image" Target="../media/image43.png"/><Relationship Id="rId7" Type="http://schemas.openxmlformats.org/officeDocument/2006/relationships/image" Target="../media/image29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9" Type="http://schemas.openxmlformats.org/officeDocument/2006/relationships/image" Target="../media/image58.png"/><Relationship Id="rId5" Type="http://schemas.openxmlformats.org/officeDocument/2006/relationships/image" Target="../media/image44.png"/><Relationship Id="rId6" Type="http://schemas.openxmlformats.org/officeDocument/2006/relationships/image" Target="../media/image74.png"/><Relationship Id="rId7" Type="http://schemas.openxmlformats.org/officeDocument/2006/relationships/image" Target="../media/image42.png"/><Relationship Id="rId8" Type="http://schemas.openxmlformats.org/officeDocument/2006/relationships/image" Target="../media/image13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11.png"/><Relationship Id="rId13" Type="http://schemas.openxmlformats.org/officeDocument/2006/relationships/image" Target="../media/image46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15" Type="http://schemas.openxmlformats.org/officeDocument/2006/relationships/image" Target="../media/image54.png"/><Relationship Id="rId14" Type="http://schemas.openxmlformats.org/officeDocument/2006/relationships/image" Target="../media/image87.png"/><Relationship Id="rId16" Type="http://schemas.openxmlformats.org/officeDocument/2006/relationships/image" Target="../media/image48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75.png"/><Relationship Id="rId8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53.png"/><Relationship Id="rId9" Type="http://schemas.openxmlformats.org/officeDocument/2006/relationships/image" Target="../media/image68.png"/><Relationship Id="rId5" Type="http://schemas.openxmlformats.org/officeDocument/2006/relationships/image" Target="../media/image51.png"/><Relationship Id="rId6" Type="http://schemas.openxmlformats.org/officeDocument/2006/relationships/image" Target="../media/image72.png"/><Relationship Id="rId7" Type="http://schemas.openxmlformats.org/officeDocument/2006/relationships/image" Target="../media/image3.png"/><Relationship Id="rId8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56.png"/><Relationship Id="rId5" Type="http://schemas.openxmlformats.org/officeDocument/2006/relationships/image" Target="../media/image8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4.png"/><Relationship Id="rId10" Type="http://schemas.openxmlformats.org/officeDocument/2006/relationships/image" Target="../media/image69.png"/><Relationship Id="rId13" Type="http://schemas.openxmlformats.org/officeDocument/2006/relationships/image" Target="../media/image65.png"/><Relationship Id="rId1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61.png"/><Relationship Id="rId14" Type="http://schemas.openxmlformats.org/officeDocument/2006/relationships/image" Target="../media/image70.png"/><Relationship Id="rId5" Type="http://schemas.openxmlformats.org/officeDocument/2006/relationships/image" Target="../media/image59.png"/><Relationship Id="rId6" Type="http://schemas.openxmlformats.org/officeDocument/2006/relationships/image" Target="../media/image63.png"/><Relationship Id="rId7" Type="http://schemas.openxmlformats.org/officeDocument/2006/relationships/image" Target="../media/image79.png"/><Relationship Id="rId8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86.png"/><Relationship Id="rId10" Type="http://schemas.openxmlformats.org/officeDocument/2006/relationships/image" Target="../media/image80.png"/><Relationship Id="rId13" Type="http://schemas.openxmlformats.org/officeDocument/2006/relationships/image" Target="../media/image94.png"/><Relationship Id="rId1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1.png"/><Relationship Id="rId9" Type="http://schemas.openxmlformats.org/officeDocument/2006/relationships/image" Target="../media/image78.png"/><Relationship Id="rId15" Type="http://schemas.openxmlformats.org/officeDocument/2006/relationships/image" Target="../media/image85.png"/><Relationship Id="rId14" Type="http://schemas.openxmlformats.org/officeDocument/2006/relationships/image" Target="../media/image90.png"/><Relationship Id="rId5" Type="http://schemas.openxmlformats.org/officeDocument/2006/relationships/image" Target="../media/image77.png"/><Relationship Id="rId6" Type="http://schemas.openxmlformats.org/officeDocument/2006/relationships/image" Target="../media/image76.png"/><Relationship Id="rId7" Type="http://schemas.openxmlformats.org/officeDocument/2006/relationships/image" Target="../media/image73.png"/><Relationship Id="rId8" Type="http://schemas.openxmlformats.org/officeDocument/2006/relationships/image" Target="../media/image98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95.png"/><Relationship Id="rId13" Type="http://schemas.openxmlformats.org/officeDocument/2006/relationships/image" Target="../media/image93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99.png"/><Relationship Id="rId15" Type="http://schemas.openxmlformats.org/officeDocument/2006/relationships/image" Target="../media/image100.png"/><Relationship Id="rId14" Type="http://schemas.openxmlformats.org/officeDocument/2006/relationships/image" Target="../media/image101.png"/><Relationship Id="rId16" Type="http://schemas.openxmlformats.org/officeDocument/2006/relationships/image" Target="../media/image106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89.png"/><Relationship Id="rId8" Type="http://schemas.openxmlformats.org/officeDocument/2006/relationships/image" Target="../media/image110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04.png"/><Relationship Id="rId9" Type="http://schemas.openxmlformats.org/officeDocument/2006/relationships/image" Target="../media/image107.png"/><Relationship Id="rId5" Type="http://schemas.openxmlformats.org/officeDocument/2006/relationships/image" Target="../media/image105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17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11.png"/><Relationship Id="rId9" Type="http://schemas.openxmlformats.org/officeDocument/2006/relationships/image" Target="../media/image114.png"/><Relationship Id="rId5" Type="http://schemas.openxmlformats.org/officeDocument/2006/relationships/image" Target="../media/image112.png"/><Relationship Id="rId6" Type="http://schemas.openxmlformats.org/officeDocument/2006/relationships/image" Target="../media/image115.png"/><Relationship Id="rId7" Type="http://schemas.openxmlformats.org/officeDocument/2006/relationships/image" Target="../media/image109.png"/><Relationship Id="rId8" Type="http://schemas.openxmlformats.org/officeDocument/2006/relationships/image" Target="../media/image116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8.png"/><Relationship Id="rId10" Type="http://schemas.openxmlformats.org/officeDocument/2006/relationships/image" Target="../media/image119.png"/><Relationship Id="rId13" Type="http://schemas.openxmlformats.org/officeDocument/2006/relationships/image" Target="../media/image122.png"/><Relationship Id="rId1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99.png"/><Relationship Id="rId15" Type="http://schemas.openxmlformats.org/officeDocument/2006/relationships/image" Target="../media/image128.png"/><Relationship Id="rId14" Type="http://schemas.openxmlformats.org/officeDocument/2006/relationships/image" Target="../media/image124.png"/><Relationship Id="rId5" Type="http://schemas.openxmlformats.org/officeDocument/2006/relationships/image" Target="../media/image1.png"/><Relationship Id="rId6" Type="http://schemas.openxmlformats.org/officeDocument/2006/relationships/image" Target="../media/image113.png"/><Relationship Id="rId7" Type="http://schemas.openxmlformats.org/officeDocument/2006/relationships/image" Target="../media/image125.png"/><Relationship Id="rId8" Type="http://schemas.openxmlformats.org/officeDocument/2006/relationships/image" Target="../media/image110.pn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27.png"/><Relationship Id="rId9" Type="http://schemas.openxmlformats.org/officeDocument/2006/relationships/image" Target="../media/image134.png"/><Relationship Id="rId5" Type="http://schemas.openxmlformats.org/officeDocument/2006/relationships/image" Target="../media/image123.png"/><Relationship Id="rId6" Type="http://schemas.openxmlformats.org/officeDocument/2006/relationships/image" Target="../media/image139.png"/><Relationship Id="rId7" Type="http://schemas.openxmlformats.org/officeDocument/2006/relationships/image" Target="../media/image136.png"/><Relationship Id="rId8" Type="http://schemas.openxmlformats.org/officeDocument/2006/relationships/image" Target="../media/image1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26.png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53.png"/><Relationship Id="rId9" Type="http://schemas.openxmlformats.org/officeDocument/2006/relationships/image" Target="../media/image132.png"/><Relationship Id="rId5" Type="http://schemas.openxmlformats.org/officeDocument/2006/relationships/image" Target="../media/image51.png"/><Relationship Id="rId6" Type="http://schemas.openxmlformats.org/officeDocument/2006/relationships/image" Target="../media/image131.png"/><Relationship Id="rId7" Type="http://schemas.openxmlformats.org/officeDocument/2006/relationships/image" Target="../media/image3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408682"/>
            <a:ext cx="10477500" cy="604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8300" y="4925317"/>
            <a:ext cx="891540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743064" y="1403082"/>
            <a:ext cx="93612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DFBF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Rajgir Marathon — Digital Platform Scope of Work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38300" y="3201292"/>
            <a:ext cx="891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4AF3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"Run Through History"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3887092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Comprehensive Web Portal, Mobile Application (iOS &amp; Android) &amp; Event Operations Ecosystem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3700" y="1094482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181350" y="1084957"/>
            <a:ext cx="6076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FBF7"/>
                </a:solidFill>
                <a:latin typeface="Outfit"/>
                <a:ea typeface="Outfit"/>
                <a:cs typeface="Outfit"/>
                <a:sym typeface="Outfit"/>
              </a:rPr>
              <a:t>OFFICIAL TECHNICAL SCOPE OF WORK (SOW) &amp; PROJECT ROADMAP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638300" y="5220592"/>
            <a:ext cx="28447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Prepared For</a:t>
            </a:r>
            <a:r>
              <a:rPr b="0" i="0" lang="en-US" sz="120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Rajgir Marathon Executive Committee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395875" y="5207405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 Timeline</a:t>
            </a:r>
            <a:r>
              <a:rPr b="0" i="0" lang="en-US" sz="120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3.5 Months (14-Week Execution Plan)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708850" y="5220592"/>
            <a:ext cx="284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7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285875"/>
            <a:ext cx="3492549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150"/>
            <a:ext cx="9429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1619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7775" y="1619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66075" y="1619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9637" y="17526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09625" y="2305050"/>
            <a:ext cx="3166958" cy="594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1. World-Class Digital Journey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38225" y="312777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Frictionless runner onboarding across Web and Mobile Apps.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38225" y="375642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Instant multi-tier payments via Razorpay integration.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38225" y="438507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Automated digital bib issuance and security.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38225" y="501372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Live runner tracking and instant e-certificates.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21125" y="17526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4587775" y="2305050"/>
            <a:ext cx="3167114" cy="594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2. Sports Tourism &amp; Heritage Synergy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816375" y="3127771"/>
            <a:ext cx="27876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Spotlight Rajgir's iconic landmarks (Vishwa Shanti Stupa, Glass Floor Bridge, Nature Safari).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816375" y="4270771"/>
            <a:ext cx="27876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Dedicated Tourism portal featuring hotel directories.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816375" y="4899421"/>
            <a:ext cx="27876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Curated local experiences and travel itineraries.</a:t>
            </a:r>
            <a:endParaRPr/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66087" y="17526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8366075" y="2305050"/>
            <a:ext cx="3166958" cy="594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3. Multi-Stakeholder Ecosystem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594675" y="312777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Specialized digital portals tailored for Corporate Teams.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594675" y="375642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Dedicated Sponsor dashboard and inventory management.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594675" y="438507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Volunteer shift allocation and credential systems.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594675" y="501372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Media Personnel and Administrator control centers.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09625" y="316587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09625" y="379452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09625" y="442317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09625" y="505182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587775" y="316587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4587775" y="430887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4587775" y="493752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366075" y="316587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366075" y="379452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366075" y="442317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366075" y="505182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Strategic Vision &amp; Key Project Objectives  </a:t>
            </a:r>
            <a:r>
              <a:rPr b="1" i="0" lang="en-US" sz="2850" u="none" cap="none" strike="noStrike">
                <a:solidFill>
                  <a:srgbClr val="8B0000"/>
                </a:solidFill>
                <a:latin typeface="Outfit"/>
                <a:ea typeface="Outfit"/>
                <a:cs typeface="Outfit"/>
                <a:sym typeface="Outfit"/>
              </a:rPr>
              <a:t>Rajgir Marathon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37338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8150"/>
            <a:ext cx="7905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9800" y="28908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1733550" y="3500437"/>
            <a:ext cx="140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D4AF3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28%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71550" y="4414837"/>
            <a:ext cx="2933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INHERITED READINESS SCORE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686300" y="1496020"/>
            <a:ext cx="6934200" cy="4770834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15"/>
          <p:cNvGraphicFramePr/>
          <p:nvPr/>
        </p:nvGraphicFramePr>
        <p:xfrm>
          <a:off x="4497175" y="1496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{24B43841-686D-4D19-8685-EDB036DF6FB3}</a:tableStyleId>
              </a:tblPr>
              <a:tblGrid>
                <a:gridCol w="1947075"/>
                <a:gridCol w="1713900"/>
                <a:gridCol w="3462325"/>
              </a:tblGrid>
              <a:tr h="80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System 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Inherited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Audit Finding &amp; Upgrade Plan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</a:tr>
              <a:tr h="95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Architecture 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 18, Node.js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 JWT auth &amp; Razorpay link exist (~28% ready). Upgrade required.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Brand Identity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Hardcoded 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Vadodara Marathon hardcoded. Complete rebrand to Rajgir Marathon across UI, APIs &amp; Emails.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5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Infrastructure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 Ephemeral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Migrate file uploads (`/uploads`) to high-availability AWS S3 Cloud Storage.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&amp; Safety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Simulated OTP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Phone OTP simulated, no rate limit. Integrate MSG91 real SMS OTP, rate limiting &amp; helmet.js.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15"/>
          <p:cNvSpPr/>
          <p:nvPr/>
        </p:nvSpPr>
        <p:spPr>
          <a:xfrm>
            <a:off x="4686300" y="2300882"/>
            <a:ext cx="1757957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444257" y="2300882"/>
            <a:ext cx="1713904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8158162" y="2300882"/>
            <a:ext cx="3462337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686300" y="3150393"/>
            <a:ext cx="1757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6444257" y="3150393"/>
            <a:ext cx="17139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158162" y="3150393"/>
            <a:ext cx="3462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686300" y="4184451"/>
            <a:ext cx="1757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444257" y="4184451"/>
            <a:ext cx="17139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8158162" y="4184451"/>
            <a:ext cx="3462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4686300" y="5218509"/>
            <a:ext cx="1757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444257" y="5218509"/>
            <a:ext cx="17139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8158162" y="5218509"/>
            <a:ext cx="3462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4686300" y="6252567"/>
            <a:ext cx="1757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444257" y="6252567"/>
            <a:ext cx="17139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8158162" y="6252567"/>
            <a:ext cx="3462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Technical Audit &amp; Codebase Readiness Summary 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6700" y="1595437"/>
            <a:ext cx="37338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7387"/>
            <a:ext cx="33528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2900" y="1957387"/>
            <a:ext cx="33528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95737"/>
            <a:ext cx="33528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2900" y="3995737"/>
            <a:ext cx="33528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150"/>
            <a:ext cx="914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title="shantiStupa.jpg"/>
          <p:cNvPicPr preferRelativeResize="0"/>
          <p:nvPr/>
        </p:nvPicPr>
        <p:blipFill rotWithShape="1">
          <a:blip r:embed="rId8">
            <a:alphaModFix/>
          </a:blip>
          <a:srcRect b="0" l="14199" r="14199" t="0"/>
          <a:stretch/>
        </p:blipFill>
        <p:spPr>
          <a:xfrm>
            <a:off x="7905750" y="1614487"/>
            <a:ext cx="3695698" cy="453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1162050" y="2157412"/>
            <a:ext cx="26503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Dynamic Homepage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47725" y="25384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Live event countdown timer, hero banner carousel, race categories grid, sponsor slider, and testimonials.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695825" y="2157412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9 Race Categories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4429125" y="25384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Dedicated pages for 42K, 21K, 10K, 5K, Kids, Senior Citizens, Corporate, Defence, and Virtual Run.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181100" y="4195762"/>
            <a:ext cx="26303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Rajgir Tourism Guide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47725" y="457676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Interactive directory for Hotels, Resorts, Glass Bridge, Nature Safari, Ropeway, Restaurants, and Itineraries.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4714875" y="4195762"/>
            <a:ext cx="26803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Media &amp; Press Center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429125" y="457676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Press releases, downloadable media kit, media press accreditation form, video gallery, and live stream.</a:t>
            </a:r>
            <a:endParaRPr/>
          </a:p>
        </p:txBody>
      </p:sp>
      <p:pic>
        <p:nvPicPr>
          <p:cNvPr descr="image.png" id="186" name="Google Shape;18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21955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29125" y="21955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725" y="423386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29125" y="42338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Comprehensive Web Portal Architecture  </a:t>
            </a:r>
            <a:r>
              <a:rPr b="1" i="0" lang="en-US" sz="2850" u="none" cap="none" strike="noStrike">
                <a:solidFill>
                  <a:srgbClr val="8B0000"/>
                </a:solidFill>
                <a:latin typeface="Outfit"/>
                <a:ea typeface="Outfit"/>
                <a:cs typeface="Outfit"/>
                <a:sym typeface="Outfit"/>
              </a:rPr>
              <a:t>Public Experience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110490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38425"/>
            <a:ext cx="35305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0600" y="2638425"/>
            <a:ext cx="3530649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850" y="2638425"/>
            <a:ext cx="35305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25305"/>
            <a:ext cx="3530500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30600" y="4825305"/>
            <a:ext cx="3530649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4825305"/>
            <a:ext cx="3530500" cy="1729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28670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28670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89875" y="28670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1525" y="50539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30625" y="50539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89875" y="50539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1500" y="581250"/>
            <a:ext cx="914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847725" y="1514475"/>
            <a:ext cx="10544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End-to-End Registration Engine: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Engineered for both individual athletes and large institutional delegations. Supports GST tax invoices, medical clearance, t-shirt size sizing, and instant digital bib generation.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771525" y="3324225"/>
            <a:ext cx="313045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Registration Type Select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71525" y="3710880"/>
            <a:ext cx="313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Individual, Group/Family, Corporate (GST compliant), School/College, International.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4530625" y="3324225"/>
            <a:ext cx="313059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Medical &amp; Waiver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4530625" y="3710880"/>
            <a:ext cx="31305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Mandatory health declaration, emergency contacts, blood group, digital waiver signature.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8289875" y="3324225"/>
            <a:ext cx="313045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Merchandise Selection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8289875" y="3710880"/>
            <a:ext cx="313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T-shirt size selection, optional merchandise upgrades and add-ons.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771525" y="5511105"/>
            <a:ext cx="313045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Razorpay Checkout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71525" y="5897760"/>
            <a:ext cx="313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Multi-payment support (UPI, Credit/Debit Cards, NetBanking, Wallets).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4530625" y="5511105"/>
            <a:ext cx="313059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Tax Invoice Generation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4530625" y="5897760"/>
            <a:ext cx="3130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downloadable GST-compliant PDF invoice sent via email.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8289875" y="5511105"/>
            <a:ext cx="313045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Digital BIB &amp; QR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8289875" y="5897760"/>
            <a:ext cx="313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sequential BIB allocation and QR code generation for Expo check-in.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571500" y="5143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Multi-Tier Registration &amp; Payment Checkout Workflow 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595437"/>
            <a:ext cx="4267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47837"/>
            <a:ext cx="64008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33737"/>
            <a:ext cx="64008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9637"/>
            <a:ext cx="64008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150"/>
            <a:ext cx="13144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2350" y="1614487"/>
            <a:ext cx="42291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1114425" y="1947862"/>
            <a:ext cx="59007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Active Race Overview &amp; Digital BIB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847725" y="2328862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Upcoming event countdown, profile management, and a mobile-friendly digital bib displaying QR code for rapid Expo check-in validation.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1085850" y="3433762"/>
            <a:ext cx="59307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Payment &amp; Invoice Records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847725" y="3814762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Access complete billing transaction history with one-click GST tax invoice PDF downloads.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1114425" y="4919662"/>
            <a:ext cx="59007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Timing &amp; Performance Center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847725" y="5300662"/>
            <a:ext cx="5886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Real-time display of chip time, gun time, overall rank, gender rank, and category rank.</a:t>
            </a:r>
            <a:endParaRPr/>
          </a:p>
        </p:txBody>
      </p:sp>
      <p:pic>
        <p:nvPicPr>
          <p:cNvPr descr="image.png" id="243" name="Google Shape;24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19859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725" y="347186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725" y="49577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Personalized Runner Dashboard Experience 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9900" y="1595437"/>
            <a:ext cx="48006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47887"/>
            <a:ext cx="58674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9062"/>
            <a:ext cx="58674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28625"/>
            <a:ext cx="1057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 title="map.png"/>
          <p:cNvPicPr preferRelativeResize="0"/>
          <p:nvPr/>
        </p:nvPicPr>
        <p:blipFill rotWithShape="1">
          <a:blip r:embed="rId8">
            <a:alphaModFix/>
          </a:blip>
          <a:srcRect b="2399" l="0" r="0" t="2399"/>
          <a:stretch/>
        </p:blipFill>
        <p:spPr>
          <a:xfrm>
            <a:off x="6838950" y="1614487"/>
            <a:ext cx="47625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1162050" y="2347912"/>
            <a:ext cx="52906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Google Maps API Integration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847725" y="2728912"/>
            <a:ext cx="53530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High-resolution vector overlays for 42K, 21K, 10K, and 5K courses. Includes a dynamic interactive elevation graph showing the terrain profile and hill challenges across the route.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085850" y="4129087"/>
            <a:ext cx="53706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Interactive Station Markers</a:t>
            </a:r>
            <a:endParaRPr/>
          </a:p>
        </p:txBody>
      </p:sp>
      <p:pic>
        <p:nvPicPr>
          <p:cNvPr descr="image.png" id="261" name="Google Shape;26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23860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725" y="4167187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9"/>
          <p:cNvSpPr txBox="1"/>
          <p:nvPr/>
        </p:nvSpPr>
        <p:spPr>
          <a:xfrm>
            <a:off x="847725" y="4510087"/>
            <a:ext cx="260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💧 Hydration &amp; Water Stations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3600450" y="4510087"/>
            <a:ext cx="260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🚑 Medical Tents &amp; First Aid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847725" y="4862512"/>
            <a:ext cx="260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🚻 Washrooms &amp; Facilities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3600450" y="4862512"/>
            <a:ext cx="260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🍎 Refreshment Zones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847725" y="5214937"/>
            <a:ext cx="260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🅿️ Parking &amp; Drop-offs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3600450" y="5214937"/>
            <a:ext cx="260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📸 Photography Points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Interactive Route Map &amp; Race-Day Station Markers </a:t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285875"/>
            <a:ext cx="3492549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150"/>
            <a:ext cx="1257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1619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7775" y="1619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66075" y="1619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9637" y="17526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2305050"/>
            <a:ext cx="18478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 txBox="1"/>
          <p:nvPr/>
        </p:nvSpPr>
        <p:spPr>
          <a:xfrm>
            <a:off x="809625" y="2657475"/>
            <a:ext cx="3166958" cy="594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Volunteer Management Portal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1038225" y="3480196"/>
            <a:ext cx="2787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Self-registration form &amp; role preferences (Expo, Route Marshal, Medical).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1038225" y="436602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Admin duty allocation &amp; shift schedule management.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1038225" y="499467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Venue check-in attendance tracking.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1038225" y="5623321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Automated digital volunteer e-certificates.</a:t>
            </a:r>
            <a:endParaRPr/>
          </a:p>
        </p:txBody>
      </p:sp>
      <p:pic>
        <p:nvPicPr>
          <p:cNvPr descr="image.png" id="290" name="Google Shape;290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02075" y="175260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87775" y="2305050"/>
            <a:ext cx="13620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4587775" y="2657475"/>
            <a:ext cx="3167114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Sponsor &amp; Brand Portal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4816375" y="3183135"/>
            <a:ext cx="27876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Corporate registration &amp; sponsorship tier selection (Title, Gold, Silver).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4816375" y="4068960"/>
            <a:ext cx="27876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Branding inventory selector (Start Arch, Bibs, Medals, LED).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4816375" y="4697610"/>
            <a:ext cx="27876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GST-compliant billing &amp; high-res artwork upload.</a:t>
            </a:r>
            <a:endParaRPr/>
          </a:p>
        </p:txBody>
      </p:sp>
      <p:pic>
        <p:nvPicPr>
          <p:cNvPr descr="image.png" id="296" name="Google Shape;296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532762" y="175260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66075" y="2305050"/>
            <a:ext cx="18764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0"/>
          <p:cNvSpPr txBox="1"/>
          <p:nvPr/>
        </p:nvSpPr>
        <p:spPr>
          <a:xfrm>
            <a:off x="8366075" y="2657475"/>
            <a:ext cx="316695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Corporate Dashboard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8594675" y="3183135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Corporate coordinator master login.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8594675" y="3811785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Bulk employee CSV import &amp; auto-verification.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8594675" y="4440435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Corporate team challenge leaderboard.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8594675" y="5069085"/>
            <a:ext cx="278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ESG &amp; CSR participation reporting metrics.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809625" y="3518296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809625" y="440412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809625" y="503277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809625" y="5661421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4587775" y="322123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4587775" y="410706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4587775" y="47357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8366075" y="322123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8366075" y="384988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8366075" y="447853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8366075" y="510718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Dedicated Ecosystem Stakeholder Portals </a:t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53340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85875"/>
            <a:ext cx="53340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150"/>
            <a:ext cx="14573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145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/>
        </p:nvSpPr>
        <p:spPr>
          <a:xfrm>
            <a:off x="866775" y="2400300"/>
            <a:ext cx="498062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Interactive Training &amp; Health Tools</a:t>
            </a:r>
            <a:endParaRPr/>
          </a:p>
        </p:txBody>
      </p:sp>
      <p:pic>
        <p:nvPicPr>
          <p:cNvPr descr="image.png" id="326" name="Google Shape;32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17145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 txBox="1"/>
          <p:nvPr/>
        </p:nvSpPr>
        <p:spPr>
          <a:xfrm>
            <a:off x="6581775" y="2400300"/>
            <a:ext cx="498062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Community &amp; Co-Runner Discovery</a:t>
            </a:r>
            <a:endParaRPr/>
          </a:p>
        </p:txBody>
      </p:sp>
      <p:pic>
        <p:nvPicPr>
          <p:cNvPr descr="image.png" id="328" name="Google Shape;32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3462" y="18478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1"/>
          <p:cNvSpPr txBox="1"/>
          <p:nvPr/>
        </p:nvSpPr>
        <p:spPr>
          <a:xfrm>
            <a:off x="1095375" y="302121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Interactive Pace Calculator: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Input target finish time to calculate exactly required KM split pacing strategies.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1095375" y="364986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BMI &amp; Hydration Estimator: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Personalized health metrics and race-day fluid intake recommendations.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1095375" y="4278510"/>
            <a:ext cx="4514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Race Prep Guides: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Expert articles on marathon training plans, taper strategies, nutrition, stretching, and injury prevention.</a:t>
            </a:r>
            <a:endParaRPr/>
          </a:p>
        </p:txBody>
      </p:sp>
      <p:pic>
        <p:nvPicPr>
          <p:cNvPr descr="image.png" id="332" name="Google Shape;33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81787" y="184785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1"/>
          <p:cNvSpPr txBox="1"/>
          <p:nvPr/>
        </p:nvSpPr>
        <p:spPr>
          <a:xfrm>
            <a:off x="6810375" y="3021210"/>
            <a:ext cx="4514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Co-Runner Match Engine: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Search registered runners by City, Age Group, Target Pace &amp; Gender to build local training groups.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6810375" y="3907035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Running Club Directory: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Index of city clubs, corporate teams, and women's running groups.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6810375" y="4535685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Discussion Boards: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Moderated forums for travel advice, carpooling, and accommodation sharing.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866775" y="30593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866775" y="368796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866775" y="43166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6581775" y="30593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6581775" y="394513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6581775" y="457378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42" name="Google Shape;342;p21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Training Module &amp; Runner Community Platform </a:t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2619375" cy="1055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1285875"/>
            <a:ext cx="2619375" cy="1055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285875"/>
            <a:ext cx="2619375" cy="1055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1285875"/>
            <a:ext cx="2619375" cy="105519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2"/>
          <p:cNvSpPr/>
          <p:nvPr/>
        </p:nvSpPr>
        <p:spPr>
          <a:xfrm>
            <a:off x="571500" y="2626816"/>
            <a:ext cx="11049000" cy="251251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22"/>
          <p:cNvGraphicFramePr/>
          <p:nvPr/>
        </p:nvGraphicFramePr>
        <p:xfrm>
          <a:off x="571500" y="2626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{24B43841-686D-4D19-8685-EDB036DF6FB3}</a:tableStyleId>
              </a:tblPr>
              <a:tblGrid>
                <a:gridCol w="946700"/>
                <a:gridCol w="1863175"/>
                <a:gridCol w="1007125"/>
                <a:gridCol w="2195650"/>
                <a:gridCol w="1792775"/>
                <a:gridCol w="1823000"/>
                <a:gridCol w="1420575"/>
              </a:tblGrid>
              <a:tr h="62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Runner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BIB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Net Chip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Pace (Min/KM)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</a:tr>
              <a:tr h="62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4AF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Rajesh Kumar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42102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Marathon (42K)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02:34:12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3:39 min/km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Finisher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Ananya Sharma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21045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Half Marathon (21K)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01:18:45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3:44 min/km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Finisher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7940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Vikram Singh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10K Challenge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00:32:10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3:13 min/km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Finisher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355" name="Google Shape;3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8150"/>
            <a:ext cx="1076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2"/>
          <p:cNvSpPr/>
          <p:nvPr/>
        </p:nvSpPr>
        <p:spPr>
          <a:xfrm>
            <a:off x="571500" y="3193553"/>
            <a:ext cx="946695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1518195" y="3193553"/>
            <a:ext cx="1863179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3381375" y="3193553"/>
            <a:ext cx="1007119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4388494" y="3193553"/>
            <a:ext cx="2195661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6584156" y="3193553"/>
            <a:ext cx="1792783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8376939" y="3193553"/>
            <a:ext cx="1822995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10199935" y="3193553"/>
            <a:ext cx="1420564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762000" y="1504950"/>
            <a:ext cx="116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WORKFLOW 1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762000" y="1743075"/>
            <a:ext cx="223837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DFBF7"/>
                </a:solidFill>
                <a:latin typeface="Outfit"/>
                <a:ea typeface="Outfit"/>
                <a:cs typeface="Outfit"/>
                <a:sym typeface="Outfit"/>
              </a:rPr>
              <a:t>RFID Data Ingestion (REST API &amp; CSV)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3571875" y="1504950"/>
            <a:ext cx="116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WORKFLOW 2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3571875" y="1743075"/>
            <a:ext cx="223837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DFBF7"/>
                </a:solidFill>
                <a:latin typeface="Outfit"/>
                <a:ea typeface="Outfit"/>
                <a:cs typeface="Outfit"/>
                <a:sym typeface="Outfit"/>
              </a:rPr>
              <a:t>Real-Time Leaderboard Publishing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6381750" y="1504950"/>
            <a:ext cx="120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WORKFLOW 3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6381750" y="1743075"/>
            <a:ext cx="223837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DFBF7"/>
                </a:solidFill>
                <a:latin typeface="Outfit"/>
                <a:ea typeface="Outfit"/>
                <a:cs typeface="Outfit"/>
                <a:sym typeface="Outfit"/>
              </a:rPr>
              <a:t>Automated Category &amp; Gender Ranking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9191625" y="1507350"/>
            <a:ext cx="1076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WORKFLOW 4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9191625" y="1743075"/>
            <a:ext cx="223837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DFBF7"/>
                </a:solidFill>
                <a:latin typeface="Outfit"/>
                <a:ea typeface="Outfit"/>
                <a:cs typeface="Outfit"/>
                <a:sym typeface="Outfit"/>
              </a:rPr>
              <a:t>Instant Certificate &amp; Social Share</a:t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571500" y="3856434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1518195" y="3856434"/>
            <a:ext cx="1863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3381375" y="3856434"/>
            <a:ext cx="1007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4388494" y="3856434"/>
            <a:ext cx="21956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6584156" y="3856434"/>
            <a:ext cx="1792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8376939" y="3856434"/>
            <a:ext cx="1822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10199935" y="3856434"/>
            <a:ext cx="1420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571500" y="4490739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1518195" y="4490739"/>
            <a:ext cx="1863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3381375" y="4490739"/>
            <a:ext cx="1007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4388494" y="4490739"/>
            <a:ext cx="21956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6584156" y="4490739"/>
            <a:ext cx="1792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376939" y="4490739"/>
            <a:ext cx="1822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10199935" y="4490739"/>
            <a:ext cx="1420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71500" y="5125045"/>
            <a:ext cx="946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518195" y="5125045"/>
            <a:ext cx="1863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3381375" y="5125045"/>
            <a:ext cx="1007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4388494" y="5125045"/>
            <a:ext cx="21956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6584156" y="5125045"/>
            <a:ext cx="1792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8376939" y="5125045"/>
            <a:ext cx="1822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10199935" y="5125045"/>
            <a:ext cx="1420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Race-Day Live Results &amp; Timing Engine </a:t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6700" y="1595437"/>
            <a:ext cx="37338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85975"/>
            <a:ext cx="33528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2900" y="2085975"/>
            <a:ext cx="33528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67150"/>
            <a:ext cx="33528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52900" y="3867150"/>
            <a:ext cx="33528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38150"/>
            <a:ext cx="1276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05750" y="1614487"/>
            <a:ext cx="36957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 txBox="1"/>
          <p:nvPr/>
        </p:nvSpPr>
        <p:spPr>
          <a:xfrm>
            <a:off x="1114425" y="2286000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Offline Digital BIB</a:t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847725" y="26670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Displays digital bib and QR code offline for seamless Expo check-in without network connectivity.</a:t>
            </a: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4695825" y="2286000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Push Alerts (Firebase)</a:t>
            </a:r>
            <a:endParaRPr/>
          </a:p>
        </p:txBody>
      </p:sp>
      <p:sp>
        <p:nvSpPr>
          <p:cNvPr id="409" name="Google Shape;409;p23"/>
          <p:cNvSpPr txBox="1"/>
          <p:nvPr/>
        </p:nvSpPr>
        <p:spPr>
          <a:xfrm>
            <a:off x="4429125" y="26670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Real-time updates for race start schedules, weather warnings, emergency alerts &amp; live results.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1066800" y="4067175"/>
            <a:ext cx="27503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GPS Live Locator</a:t>
            </a:r>
            <a:endParaRPr/>
          </a:p>
        </p:txBody>
      </p:sp>
      <p:sp>
        <p:nvSpPr>
          <p:cNvPr id="411" name="Google Shape;411;p23"/>
          <p:cNvSpPr txBox="1"/>
          <p:nvPr/>
        </p:nvSpPr>
        <p:spPr>
          <a:xfrm>
            <a:off x="847725" y="444817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GPS-enabled mobile map displaying runner position relative to nearest medical tent &amp; water station.</a:t>
            </a:r>
            <a:endParaRPr/>
          </a:p>
        </p:txBody>
      </p:sp>
      <p:sp>
        <p:nvSpPr>
          <p:cNvPr id="412" name="Google Shape;412;p23"/>
          <p:cNvSpPr txBox="1"/>
          <p:nvPr/>
        </p:nvSpPr>
        <p:spPr>
          <a:xfrm>
            <a:off x="4714875" y="4067175"/>
            <a:ext cx="26803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Emergency SOS</a:t>
            </a:r>
            <a:endParaRPr/>
          </a:p>
        </p:txBody>
      </p:sp>
      <p:sp>
        <p:nvSpPr>
          <p:cNvPr id="413" name="Google Shape;413;p23"/>
          <p:cNvSpPr txBox="1"/>
          <p:nvPr/>
        </p:nvSpPr>
        <p:spPr>
          <a:xfrm>
            <a:off x="4429125" y="444817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One-tap panic trigger transmitting instant live GPS coordinates to race medical command.</a:t>
            </a:r>
            <a:endParaRPr/>
          </a:p>
        </p:txBody>
      </p:sp>
      <p:pic>
        <p:nvPicPr>
          <p:cNvPr descr="image.png" id="414" name="Google Shape;414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725" y="23241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29125" y="23241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7725" y="410527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29125" y="41052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3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Integrated React Native Mobile Application </a:t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66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0075" y="1521625"/>
            <a:ext cx="3733800" cy="5336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800" y="1454462"/>
            <a:ext cx="33337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1000" y="1521625"/>
            <a:ext cx="33337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927" y="4333887"/>
            <a:ext cx="3320198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50275" y="4333887"/>
            <a:ext cx="33337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00050"/>
            <a:ext cx="14859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43875" y="166638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 txBox="1"/>
          <p:nvPr/>
        </p:nvSpPr>
        <p:spPr>
          <a:xfrm>
            <a:off x="8653475" y="1809638"/>
            <a:ext cx="287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AI Assistance Modules</a:t>
            </a:r>
            <a:endParaRPr/>
          </a:p>
        </p:txBody>
      </p:sp>
      <p:sp>
        <p:nvSpPr>
          <p:cNvPr id="433" name="Google Shape;433;p24"/>
          <p:cNvSpPr txBox="1"/>
          <p:nvPr/>
        </p:nvSpPr>
        <p:spPr>
          <a:xfrm>
            <a:off x="1228725" y="1724037"/>
            <a:ext cx="252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AI Running Coach</a:t>
            </a:r>
            <a:endParaRPr/>
          </a:p>
        </p:txBody>
      </p:sp>
      <p:sp>
        <p:nvSpPr>
          <p:cNvPr id="434" name="Google Shape;434;p24"/>
          <p:cNvSpPr txBox="1"/>
          <p:nvPr/>
        </p:nvSpPr>
        <p:spPr>
          <a:xfrm>
            <a:off x="885825" y="2240275"/>
            <a:ext cx="2876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Personalized marathon training plans based on runner experience, race category, historical performance, and target finish time.</a:t>
            </a:r>
            <a:endParaRPr/>
          </a:p>
        </p:txBody>
      </p:sp>
      <p:sp>
        <p:nvSpPr>
          <p:cNvPr id="435" name="Google Shape;435;p24"/>
          <p:cNvSpPr txBox="1"/>
          <p:nvPr/>
        </p:nvSpPr>
        <p:spPr>
          <a:xfrm>
            <a:off x="4800600" y="1766900"/>
            <a:ext cx="255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AI Nutrition Advisor</a:t>
            </a: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4486275" y="2236000"/>
            <a:ext cx="2743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Daily nutrition recommendations, hydration schedules, calorie estimation, and optimized race-week meal planning.</a:t>
            </a:r>
            <a:endParaRPr/>
          </a:p>
        </p:txBody>
      </p:sp>
      <p:sp>
        <p:nvSpPr>
          <p:cNvPr id="437" name="Google Shape;437;p24"/>
          <p:cNvSpPr txBox="1"/>
          <p:nvPr/>
        </p:nvSpPr>
        <p:spPr>
          <a:xfrm>
            <a:off x="1257300" y="4544375"/>
            <a:ext cx="249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AI Injury Prevention</a:t>
            </a:r>
            <a:endParaRPr/>
          </a:p>
        </p:txBody>
      </p:sp>
      <p:sp>
        <p:nvSpPr>
          <p:cNvPr id="438" name="Google Shape;438;p24"/>
          <p:cNvSpPr txBox="1"/>
          <p:nvPr/>
        </p:nvSpPr>
        <p:spPr>
          <a:xfrm>
            <a:off x="885825" y="4943475"/>
            <a:ext cx="2861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Training load analysis paired with recovery recommendations and active injury risk alerts using running history.</a:t>
            </a:r>
            <a:endParaRPr/>
          </a:p>
        </p:txBody>
      </p:sp>
      <p:sp>
        <p:nvSpPr>
          <p:cNvPr id="439" name="Google Shape;439;p24"/>
          <p:cNvSpPr txBox="1"/>
          <p:nvPr/>
        </p:nvSpPr>
        <p:spPr>
          <a:xfrm>
            <a:off x="4721950" y="4577962"/>
            <a:ext cx="255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AI Race Predictor</a:t>
            </a:r>
            <a:endParaRPr/>
          </a:p>
        </p:txBody>
      </p:sp>
      <p:sp>
        <p:nvSpPr>
          <p:cNvPr id="440" name="Google Shape;440;p24"/>
          <p:cNvSpPr txBox="1"/>
          <p:nvPr/>
        </p:nvSpPr>
        <p:spPr>
          <a:xfrm>
            <a:off x="4445525" y="5037150"/>
            <a:ext cx="2743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Predict finish time, pace strategy, and milestone estimates using historical performance and training progress models.</a:t>
            </a:r>
            <a:endParaRPr/>
          </a:p>
        </p:txBody>
      </p:sp>
      <p:pic>
        <p:nvPicPr>
          <p:cNvPr descr="image.png" id="441" name="Google Shape;441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81950" y="181878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4"/>
          <p:cNvSpPr txBox="1"/>
          <p:nvPr/>
        </p:nvSpPr>
        <p:spPr>
          <a:xfrm>
            <a:off x="8066400" y="2530300"/>
            <a:ext cx="32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b="1" i="0" lang="en-U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Event Assistant:</a:t>
            </a: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24×7 intelligent chatbot for race day FAQs.</a:t>
            </a:r>
            <a:endParaRPr sz="1300"/>
          </a:p>
        </p:txBody>
      </p:sp>
      <p:sp>
        <p:nvSpPr>
          <p:cNvPr id="443" name="Google Shape;443;p24"/>
          <p:cNvSpPr txBox="1"/>
          <p:nvPr/>
        </p:nvSpPr>
        <p:spPr>
          <a:xfrm>
            <a:off x="8076375" y="3661950"/>
            <a:ext cx="32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b="1" i="0" lang="en-U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Co-Runner Recommendation:</a:t>
            </a: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Matches peers with similar pace metrics.</a:t>
            </a:r>
            <a:endParaRPr sz="1300"/>
          </a:p>
        </p:txBody>
      </p:sp>
      <p:sp>
        <p:nvSpPr>
          <p:cNvPr id="444" name="Google Shape;444;p24"/>
          <p:cNvSpPr txBox="1"/>
          <p:nvPr/>
        </p:nvSpPr>
        <p:spPr>
          <a:xfrm>
            <a:off x="8076275" y="4793600"/>
            <a:ext cx="32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b="1" i="0" lang="en-U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Sponsor Recommendation:</a:t>
            </a: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Suggests brand offers based on runner profile.</a:t>
            </a:r>
            <a:endParaRPr sz="1300"/>
          </a:p>
        </p:txBody>
      </p:sp>
      <p:sp>
        <p:nvSpPr>
          <p:cNvPr id="445" name="Google Shape;445;p24"/>
          <p:cNvSpPr txBox="1"/>
          <p:nvPr/>
        </p:nvSpPr>
        <p:spPr>
          <a:xfrm>
            <a:off x="8076275" y="5867400"/>
            <a:ext cx="332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Customer Support Chatbot: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Automated issue resolution and ticketing.</a:t>
            </a:r>
            <a:endParaRPr/>
          </a:p>
        </p:txBody>
      </p:sp>
      <p:pic>
        <p:nvPicPr>
          <p:cNvPr descr="image.png" id="446" name="Google Shape;446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0100" y="1759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6275" y="18097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5813" y="45872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86275" y="462081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4"/>
          <p:cNvSpPr txBox="1"/>
          <p:nvPr/>
        </p:nvSpPr>
        <p:spPr>
          <a:xfrm>
            <a:off x="8181975" y="3133725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 txBox="1"/>
          <p:nvPr/>
        </p:nvSpPr>
        <p:spPr>
          <a:xfrm>
            <a:off x="8181975" y="4124325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 txBox="1"/>
          <p:nvPr/>
        </p:nvSpPr>
        <p:spPr>
          <a:xfrm>
            <a:off x="8181975" y="6391275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571500" y="3810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AI-Powered Runner Intelligence Platform</a:t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9" name="Google Shape;4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285875"/>
            <a:ext cx="3492549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663" y="428637"/>
            <a:ext cx="1600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16192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5875" y="16192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04175" y="16192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0125" y="17716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7725" y="2400300"/>
            <a:ext cx="1362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5"/>
          <p:cNvSpPr txBox="1"/>
          <p:nvPr/>
        </p:nvSpPr>
        <p:spPr>
          <a:xfrm>
            <a:off x="847725" y="2838450"/>
            <a:ext cx="30869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Find Co-Runner</a:t>
            </a:r>
            <a:endParaRPr/>
          </a:p>
        </p:txBody>
      </p:sp>
      <p:sp>
        <p:nvSpPr>
          <p:cNvPr id="470" name="Google Shape;470;p25"/>
          <p:cNvSpPr txBox="1"/>
          <p:nvPr/>
        </p:nvSpPr>
        <p:spPr>
          <a:xfrm>
            <a:off x="1114425" y="3419475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Search network by City and Age Group.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1114425" y="4124325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Filter by Target Pace &amp; Gender.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>
            <a:off x="1114425" y="4829175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Discover peers by Company.</a:t>
            </a:r>
            <a:endParaRPr/>
          </a:p>
        </p:txBody>
      </p:sp>
      <p:sp>
        <p:nvSpPr>
          <p:cNvPr id="473" name="Google Shape;473;p25"/>
          <p:cNvSpPr txBox="1"/>
          <p:nvPr/>
        </p:nvSpPr>
        <p:spPr>
          <a:xfrm>
            <a:off x="1114425" y="5248275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Match based on specific Running Interests.</a:t>
            </a:r>
            <a:endParaRPr/>
          </a:p>
        </p:txBody>
      </p:sp>
      <p:pic>
        <p:nvPicPr>
          <p:cNvPr descr="image.png" id="474" name="Google Shape;474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40175" y="17716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25875" y="2400300"/>
            <a:ext cx="129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4625875" y="2838450"/>
            <a:ext cx="308710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Team Collaboration</a:t>
            </a:r>
            <a:endParaRPr/>
          </a:p>
        </p:txBody>
      </p:sp>
      <p:sp>
        <p:nvSpPr>
          <p:cNvPr id="477" name="Google Shape;477;p25"/>
          <p:cNvSpPr txBox="1"/>
          <p:nvPr/>
        </p:nvSpPr>
        <p:spPr>
          <a:xfrm>
            <a:off x="4892575" y="3419475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Invite friends and Create new Teams.</a:t>
            </a:r>
            <a:endParaRPr/>
          </a:p>
        </p:txBody>
      </p:sp>
      <p:sp>
        <p:nvSpPr>
          <p:cNvPr id="478" name="Google Shape;478;p25"/>
          <p:cNvSpPr txBox="1"/>
          <p:nvPr/>
        </p:nvSpPr>
        <p:spPr>
          <a:xfrm>
            <a:off x="4892575" y="4124325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Join existing Teams or Squads.</a:t>
            </a:r>
            <a:endParaRPr/>
          </a:p>
        </p:txBody>
      </p:sp>
      <p:sp>
        <p:nvSpPr>
          <p:cNvPr id="479" name="Google Shape;479;p25"/>
          <p:cNvSpPr txBox="1"/>
          <p:nvPr/>
        </p:nvSpPr>
        <p:spPr>
          <a:xfrm>
            <a:off x="4892575" y="4829175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Dedicated encrypted Team Chat.</a:t>
            </a:r>
            <a:endParaRPr/>
          </a:p>
        </p:txBody>
      </p:sp>
      <p:sp>
        <p:nvSpPr>
          <p:cNvPr id="480" name="Google Shape;480;p25"/>
          <p:cNvSpPr txBox="1"/>
          <p:nvPr/>
        </p:nvSpPr>
        <p:spPr>
          <a:xfrm>
            <a:off x="4892575" y="5534025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Group Announcements &amp; Training Groups.</a:t>
            </a:r>
            <a:endParaRPr/>
          </a:p>
        </p:txBody>
      </p:sp>
      <p:pic>
        <p:nvPicPr>
          <p:cNvPr descr="image.png" id="481" name="Google Shape;481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518475" y="17716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2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04175" y="2400300"/>
            <a:ext cx="12763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5"/>
          <p:cNvSpPr txBox="1"/>
          <p:nvPr/>
        </p:nvSpPr>
        <p:spPr>
          <a:xfrm>
            <a:off x="8404175" y="2838450"/>
            <a:ext cx="30869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Running Communities</a:t>
            </a:r>
            <a:endParaRPr/>
          </a:p>
        </p:txBody>
      </p:sp>
      <p:sp>
        <p:nvSpPr>
          <p:cNvPr id="484" name="Google Shape;484;p25"/>
          <p:cNvSpPr txBox="1"/>
          <p:nvPr/>
        </p:nvSpPr>
        <p:spPr>
          <a:xfrm>
            <a:off x="8670875" y="3419475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City, Women's, College &amp; Corporate Clubs.</a:t>
            </a:r>
            <a:endParaRPr/>
          </a:p>
        </p:txBody>
      </p:sp>
      <p:sp>
        <p:nvSpPr>
          <p:cNvPr id="485" name="Google Shape;485;p25"/>
          <p:cNvSpPr txBox="1"/>
          <p:nvPr/>
        </p:nvSpPr>
        <p:spPr>
          <a:xfrm>
            <a:off x="8670875" y="4124325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Trail Running specialized communities.</a:t>
            </a:r>
            <a:endParaRPr/>
          </a:p>
        </p:txBody>
      </p:sp>
      <p:sp>
        <p:nvSpPr>
          <p:cNvPr id="486" name="Google Shape;486;p25"/>
          <p:cNvSpPr txBox="1"/>
          <p:nvPr/>
        </p:nvSpPr>
        <p:spPr>
          <a:xfrm>
            <a:off x="8670875" y="4829175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Discover Weekend Running Events.</a:t>
            </a:r>
            <a:endParaRPr/>
          </a:p>
        </p:txBody>
      </p:sp>
      <p:sp>
        <p:nvSpPr>
          <p:cNvPr id="487" name="Google Shape;487;p25"/>
          <p:cNvSpPr txBox="1"/>
          <p:nvPr/>
        </p:nvSpPr>
        <p:spPr>
          <a:xfrm>
            <a:off x="8670875" y="5534025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Community Discussions &amp; Leaderboards.</a:t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847725" y="34766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847725" y="41814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847725" y="48863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847725" y="53054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2" name="Google Shape;492;p25"/>
          <p:cNvSpPr txBox="1"/>
          <p:nvPr/>
        </p:nvSpPr>
        <p:spPr>
          <a:xfrm>
            <a:off x="4625875" y="34766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3" name="Google Shape;493;p25"/>
          <p:cNvSpPr txBox="1"/>
          <p:nvPr/>
        </p:nvSpPr>
        <p:spPr>
          <a:xfrm>
            <a:off x="4625875" y="41814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4" name="Google Shape;494;p25"/>
          <p:cNvSpPr txBox="1"/>
          <p:nvPr/>
        </p:nvSpPr>
        <p:spPr>
          <a:xfrm>
            <a:off x="4625875" y="48863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5" name="Google Shape;495;p25"/>
          <p:cNvSpPr txBox="1"/>
          <p:nvPr/>
        </p:nvSpPr>
        <p:spPr>
          <a:xfrm>
            <a:off x="4625875" y="55911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8404175" y="34766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7" name="Google Shape;497;p25"/>
          <p:cNvSpPr txBox="1"/>
          <p:nvPr/>
        </p:nvSpPr>
        <p:spPr>
          <a:xfrm>
            <a:off x="8404175" y="41814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404175" y="48863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99" name="Google Shape;499;p25"/>
          <p:cNvSpPr txBox="1"/>
          <p:nvPr/>
        </p:nvSpPr>
        <p:spPr>
          <a:xfrm>
            <a:off x="8404175" y="55911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00" name="Google Shape;500;p25"/>
          <p:cNvSpPr txBox="1"/>
          <p:nvPr/>
        </p:nvSpPr>
        <p:spPr>
          <a:xfrm>
            <a:off x="571500" y="381000"/>
            <a:ext cx="11601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457200" lvl="0" marL="9144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Advanced Runner Community &amp; Social Ecosystem</a:t>
            </a:r>
            <a:endParaRPr sz="1200"/>
          </a:p>
        </p:txBody>
      </p:sp>
      <p:sp>
        <p:nvSpPr>
          <p:cNvPr id="501" name="Google Shape;501;p25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6" name="Google Shape;5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7" name="Google Shape;5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781175"/>
            <a:ext cx="4267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85875"/>
            <a:ext cx="64008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8150"/>
            <a:ext cx="64008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750" y="447675"/>
            <a:ext cx="1622226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2350" y="1800225"/>
            <a:ext cx="42291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6"/>
          <p:cNvSpPr txBox="1"/>
          <p:nvPr/>
        </p:nvSpPr>
        <p:spPr>
          <a:xfrm>
            <a:off x="1228725" y="1524000"/>
            <a:ext cx="57407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Personal Race Memories</a:t>
            </a:r>
            <a:endParaRPr/>
          </a:p>
        </p:txBody>
      </p:sp>
      <p:sp>
        <p:nvSpPr>
          <p:cNvPr id="513" name="Google Shape;513;p26"/>
          <p:cNvSpPr txBox="1"/>
          <p:nvPr/>
        </p:nvSpPr>
        <p:spPr>
          <a:xfrm>
            <a:off x="1228725" y="4486275"/>
            <a:ext cx="57407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Event Gallery &amp; Media</a:t>
            </a:r>
            <a:endParaRPr/>
          </a:p>
        </p:txBody>
      </p:sp>
      <p:pic>
        <p:nvPicPr>
          <p:cNvPr descr="image.png" id="514" name="Google Shape;51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15668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6"/>
          <p:cNvSpPr txBox="1"/>
          <p:nvPr/>
        </p:nvSpPr>
        <p:spPr>
          <a:xfrm>
            <a:off x="1152525" y="1952625"/>
            <a:ext cx="5543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 Includes: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Official Race Photos &amp; Videos.</a:t>
            </a:r>
            <a:endParaRPr/>
          </a:p>
        </p:txBody>
      </p:sp>
      <p:sp>
        <p:nvSpPr>
          <p:cNvPr id="516" name="Google Shape;516;p26"/>
          <p:cNvSpPr txBox="1"/>
          <p:nvPr/>
        </p:nvSpPr>
        <p:spPr>
          <a:xfrm>
            <a:off x="1152525" y="2371725"/>
            <a:ext cx="5543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Analytics: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GPS Route Replay mapping their exact run.</a:t>
            </a:r>
            <a:endParaRPr/>
          </a:p>
        </p:txBody>
      </p:sp>
      <p:sp>
        <p:nvSpPr>
          <p:cNvPr id="517" name="Google Shape;517;p26"/>
          <p:cNvSpPr txBox="1"/>
          <p:nvPr/>
        </p:nvSpPr>
        <p:spPr>
          <a:xfrm>
            <a:off x="1152525" y="2790825"/>
            <a:ext cx="5543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Achievements: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Digital Medal Collection &amp; Finisher Certificate.</a:t>
            </a:r>
            <a:endParaRPr/>
          </a:p>
        </p:txBody>
      </p:sp>
      <p:sp>
        <p:nvSpPr>
          <p:cNvPr id="518" name="Google Shape;518;p26"/>
          <p:cNvSpPr txBox="1"/>
          <p:nvPr/>
        </p:nvSpPr>
        <p:spPr>
          <a:xfrm>
            <a:off x="1152525" y="3495675"/>
            <a:ext cx="5543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Sharing: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Personal Race Story &amp; 1-click Social Media Sharing.</a:t>
            </a:r>
            <a:endParaRPr/>
          </a:p>
        </p:txBody>
      </p:sp>
      <p:pic>
        <p:nvPicPr>
          <p:cNvPr descr="image.png" id="519" name="Google Shape;51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5825" y="45291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6"/>
          <p:cNvSpPr txBox="1"/>
          <p:nvPr/>
        </p:nvSpPr>
        <p:spPr>
          <a:xfrm>
            <a:off x="1152525" y="4914900"/>
            <a:ext cx="5543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Coverage: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Official Event Photography &amp; Drone Coverage.</a:t>
            </a:r>
            <a:endParaRPr/>
          </a:p>
        </p:txBody>
      </p:sp>
      <p:sp>
        <p:nvSpPr>
          <p:cNvPr id="521" name="Google Shape;521;p26"/>
          <p:cNvSpPr txBox="1"/>
          <p:nvPr/>
        </p:nvSpPr>
        <p:spPr>
          <a:xfrm>
            <a:off x="1152525" y="5334000"/>
            <a:ext cx="5543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Access: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Race Highlights library and high-res Media Downloads.</a:t>
            </a:r>
            <a:endParaRPr/>
          </a:p>
        </p:txBody>
      </p:sp>
      <p:sp>
        <p:nvSpPr>
          <p:cNvPr id="522" name="Google Shape;522;p26"/>
          <p:cNvSpPr txBox="1"/>
          <p:nvPr/>
        </p:nvSpPr>
        <p:spPr>
          <a:xfrm>
            <a:off x="1152525" y="6038850"/>
            <a:ext cx="5543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Smart Search: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AI-powered photo search using runner BIB Number.</a:t>
            </a:r>
            <a:endParaRPr/>
          </a:p>
        </p:txBody>
      </p:sp>
      <p:sp>
        <p:nvSpPr>
          <p:cNvPr id="523" name="Google Shape;523;p26"/>
          <p:cNvSpPr txBox="1"/>
          <p:nvPr/>
        </p:nvSpPr>
        <p:spPr>
          <a:xfrm>
            <a:off x="885825" y="20097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24" name="Google Shape;524;p26"/>
          <p:cNvSpPr txBox="1"/>
          <p:nvPr/>
        </p:nvSpPr>
        <p:spPr>
          <a:xfrm>
            <a:off x="885825" y="24288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25" name="Google Shape;525;p26"/>
          <p:cNvSpPr txBox="1"/>
          <p:nvPr/>
        </p:nvSpPr>
        <p:spPr>
          <a:xfrm>
            <a:off x="885825" y="28479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26" name="Google Shape;526;p26"/>
          <p:cNvSpPr txBox="1"/>
          <p:nvPr/>
        </p:nvSpPr>
        <p:spPr>
          <a:xfrm>
            <a:off x="885825" y="35528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27" name="Google Shape;527;p26"/>
          <p:cNvSpPr txBox="1"/>
          <p:nvPr/>
        </p:nvSpPr>
        <p:spPr>
          <a:xfrm>
            <a:off x="885825" y="49720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885825" y="5391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29" name="Google Shape;529;p26"/>
          <p:cNvSpPr txBox="1"/>
          <p:nvPr/>
        </p:nvSpPr>
        <p:spPr>
          <a:xfrm>
            <a:off x="885825" y="60960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30" name="Google Shape;530;p26"/>
          <p:cNvSpPr txBox="1"/>
          <p:nvPr/>
        </p:nvSpPr>
        <p:spPr>
          <a:xfrm>
            <a:off x="571500" y="381000"/>
            <a:ext cx="11620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Memories, Media &amp; Digital Achievement Platform</a:t>
            </a:r>
            <a:endParaRPr sz="900"/>
          </a:p>
        </p:txBody>
      </p:sp>
      <p:sp>
        <p:nvSpPr>
          <p:cNvPr id="531" name="Google Shape;531;p26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6" name="Google Shape;5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7" name="Google Shape;53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373380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8" name="Google Shape;53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6300" y="1285875"/>
            <a:ext cx="693420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9" name="Google Shape;53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7175"/>
            <a:ext cx="21836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0" name="Google Shape;54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1714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7"/>
          <p:cNvSpPr txBox="1"/>
          <p:nvPr/>
        </p:nvSpPr>
        <p:spPr>
          <a:xfrm>
            <a:off x="885825" y="2495550"/>
            <a:ext cx="326040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Vendor Management Portal</a:t>
            </a:r>
            <a:endParaRPr/>
          </a:p>
        </p:txBody>
      </p:sp>
      <p:sp>
        <p:nvSpPr>
          <p:cNvPr id="542" name="Google Shape;542;p27"/>
          <p:cNvSpPr txBox="1"/>
          <p:nvPr/>
        </p:nvSpPr>
        <p:spPr>
          <a:xfrm>
            <a:off x="885825" y="3409950"/>
            <a:ext cx="3105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 onboarding and management for:</a:t>
            </a:r>
            <a:endParaRPr/>
          </a:p>
        </p:txBody>
      </p:sp>
      <p:pic>
        <p:nvPicPr>
          <p:cNvPr descr="image.png" id="543" name="Google Shape;54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0625" y="1714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7"/>
          <p:cNvSpPr txBox="1"/>
          <p:nvPr/>
        </p:nvSpPr>
        <p:spPr>
          <a:xfrm>
            <a:off x="5000625" y="2495550"/>
            <a:ext cx="66208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Advanced Admin Dashboard</a:t>
            </a:r>
            <a:endParaRPr/>
          </a:p>
        </p:txBody>
      </p:sp>
      <p:sp>
        <p:nvSpPr>
          <p:cNvPr id="545" name="Google Shape;545;p27"/>
          <p:cNvSpPr txBox="1"/>
          <p:nvPr/>
        </p:nvSpPr>
        <p:spPr>
          <a:xfrm>
            <a:off x="5000625" y="3076575"/>
            <a:ext cx="6305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Complete administration console including:</a:t>
            </a:r>
            <a:endParaRPr/>
          </a:p>
        </p:txBody>
      </p:sp>
      <p:pic>
        <p:nvPicPr>
          <p:cNvPr descr="image.png" id="546" name="Google Shape;54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9175" y="186690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7"/>
          <p:cNvSpPr txBox="1"/>
          <p:nvPr/>
        </p:nvSpPr>
        <p:spPr>
          <a:xfrm>
            <a:off x="1152525" y="4133850"/>
            <a:ext cx="283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Food &amp; Beverage Vendors</a:t>
            </a:r>
            <a:endParaRPr/>
          </a:p>
        </p:txBody>
      </p:sp>
      <p:sp>
        <p:nvSpPr>
          <p:cNvPr id="548" name="Google Shape;548;p27"/>
          <p:cNvSpPr txBox="1"/>
          <p:nvPr/>
        </p:nvSpPr>
        <p:spPr>
          <a:xfrm>
            <a:off x="1152525" y="4552950"/>
            <a:ext cx="2838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Merchandise &amp; Apparel Vendors</a:t>
            </a:r>
            <a:endParaRPr/>
          </a:p>
        </p:txBody>
      </p:sp>
      <p:sp>
        <p:nvSpPr>
          <p:cNvPr id="549" name="Google Shape;549;p27"/>
          <p:cNvSpPr txBox="1"/>
          <p:nvPr/>
        </p:nvSpPr>
        <p:spPr>
          <a:xfrm>
            <a:off x="1152525" y="5257800"/>
            <a:ext cx="283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Medical &amp; First Aid Vendors</a:t>
            </a:r>
            <a:endParaRPr/>
          </a:p>
        </p:txBody>
      </p:sp>
      <p:sp>
        <p:nvSpPr>
          <p:cNvPr id="550" name="Google Shape;550;p27"/>
          <p:cNvSpPr txBox="1"/>
          <p:nvPr/>
        </p:nvSpPr>
        <p:spPr>
          <a:xfrm>
            <a:off x="1152525" y="5676900"/>
            <a:ext cx="283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Logistics &amp; Transport Partners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1152525" y="6096000"/>
            <a:ext cx="283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Expo Booth Operators</a:t>
            </a:r>
            <a:endParaRPr/>
          </a:p>
        </p:txBody>
      </p:sp>
      <p:pic>
        <p:nvPicPr>
          <p:cNvPr descr="image.png" id="552" name="Google Shape;552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53025" y="18669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7"/>
          <p:cNvSpPr txBox="1"/>
          <p:nvPr/>
        </p:nvSpPr>
        <p:spPr>
          <a:xfrm>
            <a:off x="885825" y="41910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54" name="Google Shape;554;p27"/>
          <p:cNvSpPr txBox="1"/>
          <p:nvPr/>
        </p:nvSpPr>
        <p:spPr>
          <a:xfrm>
            <a:off x="885825" y="46101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55" name="Google Shape;555;p27"/>
          <p:cNvSpPr txBox="1"/>
          <p:nvPr/>
        </p:nvSpPr>
        <p:spPr>
          <a:xfrm>
            <a:off x="885825" y="53149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56" name="Google Shape;556;p27"/>
          <p:cNvSpPr txBox="1"/>
          <p:nvPr/>
        </p:nvSpPr>
        <p:spPr>
          <a:xfrm>
            <a:off x="885825" y="57340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57" name="Google Shape;557;p27"/>
          <p:cNvSpPr txBox="1"/>
          <p:nvPr/>
        </p:nvSpPr>
        <p:spPr>
          <a:xfrm>
            <a:off x="885825" y="6153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58" name="Google Shape;558;p27"/>
          <p:cNvSpPr txBox="1"/>
          <p:nvPr/>
        </p:nvSpPr>
        <p:spPr>
          <a:xfrm>
            <a:off x="5267325" y="36290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Event Management</a:t>
            </a:r>
            <a:endParaRPr/>
          </a:p>
        </p:txBody>
      </p:sp>
      <p:sp>
        <p:nvSpPr>
          <p:cNvPr id="559" name="Google Shape;559;p27"/>
          <p:cNvSpPr txBox="1"/>
          <p:nvPr/>
        </p:nvSpPr>
        <p:spPr>
          <a:xfrm>
            <a:off x="5267325" y="40481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 &amp; Registration Mgmt</a:t>
            </a:r>
            <a:endParaRPr/>
          </a:p>
        </p:txBody>
      </p:sp>
      <p:sp>
        <p:nvSpPr>
          <p:cNvPr id="560" name="Google Shape;560;p27"/>
          <p:cNvSpPr txBox="1"/>
          <p:nvPr/>
        </p:nvSpPr>
        <p:spPr>
          <a:xfrm>
            <a:off x="5267325" y="44672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Payment &amp; Refund Mgmt</a:t>
            </a:r>
            <a:endParaRPr/>
          </a:p>
        </p:txBody>
      </p:sp>
      <p:sp>
        <p:nvSpPr>
          <p:cNvPr id="561" name="Google Shape;561;p27"/>
          <p:cNvSpPr txBox="1"/>
          <p:nvPr/>
        </p:nvSpPr>
        <p:spPr>
          <a:xfrm>
            <a:off x="5267325" y="48863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Volunteer Management</a:t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5267325" y="53054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Sponsor Management</a:t>
            </a:r>
            <a:endParaRPr/>
          </a:p>
        </p:txBody>
      </p:sp>
      <p:sp>
        <p:nvSpPr>
          <p:cNvPr id="563" name="Google Shape;563;p27"/>
          <p:cNvSpPr txBox="1"/>
          <p:nvPr/>
        </p:nvSpPr>
        <p:spPr>
          <a:xfrm>
            <a:off x="5267325" y="57245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Vendor Management</a:t>
            </a:r>
            <a:endParaRPr/>
          </a:p>
        </p:txBody>
      </p:sp>
      <p:sp>
        <p:nvSpPr>
          <p:cNvPr id="564" name="Google Shape;564;p27"/>
          <p:cNvSpPr txBox="1"/>
          <p:nvPr/>
        </p:nvSpPr>
        <p:spPr>
          <a:xfrm>
            <a:off x="8534400" y="36290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Communication Center</a:t>
            </a:r>
            <a:endParaRPr/>
          </a:p>
        </p:txBody>
      </p:sp>
      <p:sp>
        <p:nvSpPr>
          <p:cNvPr id="565" name="Google Shape;565;p27"/>
          <p:cNvSpPr txBox="1"/>
          <p:nvPr/>
        </p:nvSpPr>
        <p:spPr>
          <a:xfrm>
            <a:off x="8534400" y="40481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Results &amp; Timing Mgmt</a:t>
            </a:r>
            <a:endParaRPr/>
          </a:p>
        </p:txBody>
      </p:sp>
      <p:sp>
        <p:nvSpPr>
          <p:cNvPr id="566" name="Google Shape;566;p27"/>
          <p:cNvSpPr txBox="1"/>
          <p:nvPr/>
        </p:nvSpPr>
        <p:spPr>
          <a:xfrm>
            <a:off x="8534400" y="44672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Finance Reports</a:t>
            </a:r>
            <a:endParaRPr/>
          </a:p>
        </p:txBody>
      </p:sp>
      <p:sp>
        <p:nvSpPr>
          <p:cNvPr id="567" name="Google Shape;567;p27"/>
          <p:cNvSpPr txBox="1"/>
          <p:nvPr/>
        </p:nvSpPr>
        <p:spPr>
          <a:xfrm>
            <a:off x="8534400" y="48863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Analytics Dashboard</a:t>
            </a:r>
            <a:endParaRPr/>
          </a:p>
        </p:txBody>
      </p:sp>
      <p:sp>
        <p:nvSpPr>
          <p:cNvPr id="568" name="Google Shape;568;p27"/>
          <p:cNvSpPr txBox="1"/>
          <p:nvPr/>
        </p:nvSpPr>
        <p:spPr>
          <a:xfrm>
            <a:off x="8534400" y="53054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Content Management (CMS)</a:t>
            </a:r>
            <a:endParaRPr/>
          </a:p>
        </p:txBody>
      </p:sp>
      <p:sp>
        <p:nvSpPr>
          <p:cNvPr id="569" name="Google Shape;569;p27"/>
          <p:cNvSpPr txBox="1"/>
          <p:nvPr/>
        </p:nvSpPr>
        <p:spPr>
          <a:xfrm>
            <a:off x="8534400" y="5724525"/>
            <a:ext cx="2771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Security &amp; Audit Logs</a:t>
            </a:r>
            <a:endParaRPr/>
          </a:p>
        </p:txBody>
      </p:sp>
      <p:sp>
        <p:nvSpPr>
          <p:cNvPr id="570" name="Google Shape;570;p27"/>
          <p:cNvSpPr txBox="1"/>
          <p:nvPr/>
        </p:nvSpPr>
        <p:spPr>
          <a:xfrm>
            <a:off x="5000625" y="36861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1" name="Google Shape;571;p27"/>
          <p:cNvSpPr txBox="1"/>
          <p:nvPr/>
        </p:nvSpPr>
        <p:spPr>
          <a:xfrm>
            <a:off x="5000625" y="41052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2" name="Google Shape;572;p27"/>
          <p:cNvSpPr txBox="1"/>
          <p:nvPr/>
        </p:nvSpPr>
        <p:spPr>
          <a:xfrm>
            <a:off x="5000625" y="45243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3" name="Google Shape;573;p27"/>
          <p:cNvSpPr txBox="1"/>
          <p:nvPr/>
        </p:nvSpPr>
        <p:spPr>
          <a:xfrm>
            <a:off x="5000625" y="49434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4" name="Google Shape;574;p27"/>
          <p:cNvSpPr txBox="1"/>
          <p:nvPr/>
        </p:nvSpPr>
        <p:spPr>
          <a:xfrm>
            <a:off x="5000625" y="53625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5" name="Google Shape;575;p27"/>
          <p:cNvSpPr txBox="1"/>
          <p:nvPr/>
        </p:nvSpPr>
        <p:spPr>
          <a:xfrm>
            <a:off x="5000625" y="57816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6" name="Google Shape;576;p27"/>
          <p:cNvSpPr txBox="1"/>
          <p:nvPr/>
        </p:nvSpPr>
        <p:spPr>
          <a:xfrm>
            <a:off x="8267700" y="36861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7" name="Google Shape;577;p27"/>
          <p:cNvSpPr txBox="1"/>
          <p:nvPr/>
        </p:nvSpPr>
        <p:spPr>
          <a:xfrm>
            <a:off x="8267700" y="41052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8" name="Google Shape;578;p27"/>
          <p:cNvSpPr txBox="1"/>
          <p:nvPr/>
        </p:nvSpPr>
        <p:spPr>
          <a:xfrm>
            <a:off x="8267700" y="45243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9" name="Google Shape;579;p27"/>
          <p:cNvSpPr txBox="1"/>
          <p:nvPr/>
        </p:nvSpPr>
        <p:spPr>
          <a:xfrm>
            <a:off x="8267700" y="49434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80" name="Google Shape;580;p27"/>
          <p:cNvSpPr txBox="1"/>
          <p:nvPr/>
        </p:nvSpPr>
        <p:spPr>
          <a:xfrm>
            <a:off x="8267700" y="53625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81" name="Google Shape;581;p27"/>
          <p:cNvSpPr txBox="1"/>
          <p:nvPr/>
        </p:nvSpPr>
        <p:spPr>
          <a:xfrm>
            <a:off x="8267700" y="57816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82" name="Google Shape;582;p27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                  </a:t>
            </a: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Advanced Administration &amp; Vendor Operations </a:t>
            </a:r>
            <a:endParaRPr sz="1100"/>
          </a:p>
        </p:txBody>
      </p:sp>
      <p:sp>
        <p:nvSpPr>
          <p:cNvPr id="583" name="Google Shape;583;p27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8" name="Google Shape;5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0" name="Google Shape;59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285875"/>
            <a:ext cx="3492549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285875"/>
            <a:ext cx="34924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2" name="Google Shape;59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0050"/>
            <a:ext cx="1771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16192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4" name="Google Shape;594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5875" y="16192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5" name="Google Shape;595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04175" y="16192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6" name="Google Shape;596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725" y="2400300"/>
            <a:ext cx="952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8"/>
          <p:cNvSpPr txBox="1"/>
          <p:nvPr/>
        </p:nvSpPr>
        <p:spPr>
          <a:xfrm>
            <a:off x="847725" y="2838450"/>
            <a:ext cx="308694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Fitness Ecosystem Integrations</a:t>
            </a:r>
            <a:endParaRPr/>
          </a:p>
        </p:txBody>
      </p:sp>
      <p:sp>
        <p:nvSpPr>
          <p:cNvPr id="598" name="Google Shape;598;p28"/>
          <p:cNvSpPr txBox="1"/>
          <p:nvPr/>
        </p:nvSpPr>
        <p:spPr>
          <a:xfrm>
            <a:off x="1114425" y="3752850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Apple Health &amp; Google Fit</a:t>
            </a:r>
            <a:endParaRPr/>
          </a:p>
        </p:txBody>
      </p:sp>
      <p:sp>
        <p:nvSpPr>
          <p:cNvPr id="599" name="Google Shape;599;p28"/>
          <p:cNvSpPr txBox="1"/>
          <p:nvPr/>
        </p:nvSpPr>
        <p:spPr>
          <a:xfrm>
            <a:off x="1114425" y="4171950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Garmin Connect &amp; Strava</a:t>
            </a:r>
            <a:endParaRPr/>
          </a:p>
        </p:txBody>
      </p:sp>
      <p:sp>
        <p:nvSpPr>
          <p:cNvPr id="600" name="Google Shape;600;p28"/>
          <p:cNvSpPr txBox="1"/>
          <p:nvPr/>
        </p:nvSpPr>
        <p:spPr>
          <a:xfrm>
            <a:off x="1114425" y="4591050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Fitbit &amp; Coros</a:t>
            </a:r>
            <a:endParaRPr/>
          </a:p>
        </p:txBody>
      </p:sp>
      <p:sp>
        <p:nvSpPr>
          <p:cNvPr id="601" name="Google Shape;601;p28"/>
          <p:cNvSpPr txBox="1"/>
          <p:nvPr/>
        </p:nvSpPr>
        <p:spPr>
          <a:xfrm>
            <a:off x="1114425" y="5010150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Suunto API support</a:t>
            </a:r>
            <a:endParaRPr/>
          </a:p>
        </p:txBody>
      </p:sp>
      <p:pic>
        <p:nvPicPr>
          <p:cNvPr descr="image.png" id="602" name="Google Shape;602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78275" y="17716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3" name="Google Shape;603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25875" y="2400300"/>
            <a:ext cx="11620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8"/>
          <p:cNvSpPr txBox="1"/>
          <p:nvPr/>
        </p:nvSpPr>
        <p:spPr>
          <a:xfrm>
            <a:off x="4625875" y="2838450"/>
            <a:ext cx="308710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Smart Health Features</a:t>
            </a:r>
            <a:endParaRPr/>
          </a:p>
        </p:txBody>
      </p:sp>
      <p:sp>
        <p:nvSpPr>
          <p:cNvPr id="605" name="Google Shape;605;p28"/>
          <p:cNvSpPr txBox="1"/>
          <p:nvPr/>
        </p:nvSpPr>
        <p:spPr>
          <a:xfrm>
            <a:off x="4892575" y="3419475"/>
            <a:ext cx="26733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Automatic Activity Sync</a:t>
            </a:r>
            <a:endParaRPr/>
          </a:p>
        </p:txBody>
      </p:sp>
      <p:sp>
        <p:nvSpPr>
          <p:cNvPr id="606" name="Google Shape;606;p28"/>
          <p:cNvSpPr txBox="1"/>
          <p:nvPr/>
        </p:nvSpPr>
        <p:spPr>
          <a:xfrm>
            <a:off x="4892575" y="3838575"/>
            <a:ext cx="26733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Training Progress Tracking</a:t>
            </a:r>
            <a:endParaRPr/>
          </a:p>
        </p:txBody>
      </p:sp>
      <p:sp>
        <p:nvSpPr>
          <p:cNvPr id="607" name="Google Shape;607;p28"/>
          <p:cNvSpPr txBox="1"/>
          <p:nvPr/>
        </p:nvSpPr>
        <p:spPr>
          <a:xfrm>
            <a:off x="4892575" y="4257675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Heart Rate &amp; Distance Analytics</a:t>
            </a:r>
            <a:endParaRPr/>
          </a:p>
        </p:txBody>
      </p:sp>
      <p:sp>
        <p:nvSpPr>
          <p:cNvPr id="608" name="Google Shape;608;p28"/>
          <p:cNvSpPr txBox="1"/>
          <p:nvPr/>
        </p:nvSpPr>
        <p:spPr>
          <a:xfrm>
            <a:off x="4892575" y="4962525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Recovery Monitoring &amp; Dashboards</a:t>
            </a:r>
            <a:endParaRPr/>
          </a:p>
        </p:txBody>
      </p:sp>
      <p:pic>
        <p:nvPicPr>
          <p:cNvPr descr="image.png" id="609" name="Google Shape;609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37525" y="17716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0" name="Google Shape;610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04175" y="2400300"/>
            <a:ext cx="742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8"/>
          <p:cNvSpPr txBox="1"/>
          <p:nvPr/>
        </p:nvSpPr>
        <p:spPr>
          <a:xfrm>
            <a:off x="8404175" y="2838450"/>
            <a:ext cx="308694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Communication Integrations</a:t>
            </a:r>
            <a:endParaRPr/>
          </a:p>
        </p:txBody>
      </p:sp>
      <p:sp>
        <p:nvSpPr>
          <p:cNvPr id="612" name="Google Shape;612;p28"/>
          <p:cNvSpPr txBox="1"/>
          <p:nvPr/>
        </p:nvSpPr>
        <p:spPr>
          <a:xfrm>
            <a:off x="8670875" y="3752850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WhatsApp &amp; SMS Gateway</a:t>
            </a:r>
            <a:endParaRPr/>
          </a:p>
        </p:txBody>
      </p:sp>
      <p:sp>
        <p:nvSpPr>
          <p:cNvPr id="613" name="Google Shape;613;p28"/>
          <p:cNvSpPr txBox="1"/>
          <p:nvPr/>
        </p:nvSpPr>
        <p:spPr>
          <a:xfrm>
            <a:off x="8670875" y="4171950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Email Notifications</a:t>
            </a:r>
            <a:endParaRPr/>
          </a:p>
        </p:txBody>
      </p:sp>
      <p:sp>
        <p:nvSpPr>
          <p:cNvPr id="614" name="Google Shape;614;p28"/>
          <p:cNvSpPr txBox="1"/>
          <p:nvPr/>
        </p:nvSpPr>
        <p:spPr>
          <a:xfrm>
            <a:off x="8670875" y="4591050"/>
            <a:ext cx="267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QR Scanner System</a:t>
            </a:r>
            <a:endParaRPr/>
          </a:p>
        </p:txBody>
      </p:sp>
      <p:sp>
        <p:nvSpPr>
          <p:cNvPr id="615" name="Google Shape;615;p28"/>
          <p:cNvSpPr txBox="1"/>
          <p:nvPr/>
        </p:nvSpPr>
        <p:spPr>
          <a:xfrm>
            <a:off x="8670875" y="5010150"/>
            <a:ext cx="267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RFID Timing Hardware Integration</a:t>
            </a:r>
            <a:endParaRPr/>
          </a:p>
        </p:txBody>
      </p:sp>
      <p:sp>
        <p:nvSpPr>
          <p:cNvPr id="616" name="Google Shape;616;p28"/>
          <p:cNvSpPr txBox="1"/>
          <p:nvPr/>
        </p:nvSpPr>
        <p:spPr>
          <a:xfrm>
            <a:off x="847725" y="38100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17" name="Google Shape;617;p28"/>
          <p:cNvSpPr txBox="1"/>
          <p:nvPr/>
        </p:nvSpPr>
        <p:spPr>
          <a:xfrm>
            <a:off x="847725" y="42291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18" name="Google Shape;618;p28"/>
          <p:cNvSpPr txBox="1"/>
          <p:nvPr/>
        </p:nvSpPr>
        <p:spPr>
          <a:xfrm>
            <a:off x="847725" y="46482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19" name="Google Shape;619;p28"/>
          <p:cNvSpPr txBox="1"/>
          <p:nvPr/>
        </p:nvSpPr>
        <p:spPr>
          <a:xfrm>
            <a:off x="847725" y="50673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0" name="Google Shape;620;p28"/>
          <p:cNvSpPr txBox="1"/>
          <p:nvPr/>
        </p:nvSpPr>
        <p:spPr>
          <a:xfrm>
            <a:off x="4625875" y="34766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1" name="Google Shape;621;p28"/>
          <p:cNvSpPr txBox="1"/>
          <p:nvPr/>
        </p:nvSpPr>
        <p:spPr>
          <a:xfrm>
            <a:off x="4625875" y="38957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2" name="Google Shape;622;p28"/>
          <p:cNvSpPr txBox="1"/>
          <p:nvPr/>
        </p:nvSpPr>
        <p:spPr>
          <a:xfrm>
            <a:off x="4625875" y="43148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3" name="Google Shape;623;p28"/>
          <p:cNvSpPr txBox="1"/>
          <p:nvPr/>
        </p:nvSpPr>
        <p:spPr>
          <a:xfrm>
            <a:off x="4625875" y="50196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4" name="Google Shape;624;p28"/>
          <p:cNvSpPr txBox="1"/>
          <p:nvPr/>
        </p:nvSpPr>
        <p:spPr>
          <a:xfrm>
            <a:off x="8404175" y="38100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5" name="Google Shape;625;p28"/>
          <p:cNvSpPr txBox="1"/>
          <p:nvPr/>
        </p:nvSpPr>
        <p:spPr>
          <a:xfrm>
            <a:off x="8404175" y="42291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6" name="Google Shape;626;p28"/>
          <p:cNvSpPr txBox="1"/>
          <p:nvPr/>
        </p:nvSpPr>
        <p:spPr>
          <a:xfrm>
            <a:off x="8404175" y="46482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7" name="Google Shape;627;p28"/>
          <p:cNvSpPr txBox="1"/>
          <p:nvPr/>
        </p:nvSpPr>
        <p:spPr>
          <a:xfrm>
            <a:off x="8404175" y="50673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8" name="Google Shape;628;p28"/>
          <p:cNvSpPr txBox="1"/>
          <p:nvPr/>
        </p:nvSpPr>
        <p:spPr>
          <a:xfrm>
            <a:off x="571500" y="3810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Smart Health &amp; Wearable Integration</a:t>
            </a:r>
            <a:r>
              <a:rPr b="1" lang="en-US" sz="3150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s</a:t>
            </a:r>
            <a:endParaRPr/>
          </a:p>
        </p:txBody>
      </p:sp>
      <p:sp>
        <p:nvSpPr>
          <p:cNvPr id="629" name="Google Shape;629;p28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4" name="Google Shape;6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3000"/>
            <a:ext cx="12192000" cy="665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5" name="Google Shape;6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9900" y="2105025"/>
            <a:ext cx="48006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6" name="Google Shape;63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174638"/>
            <a:ext cx="58674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7" name="Google Shape;637;p29"/>
          <p:cNvPicPr preferRelativeResize="0"/>
          <p:nvPr/>
        </p:nvPicPr>
        <p:blipFill rotWithShape="1">
          <a:blip r:embed="rId6">
            <a:alphaModFix/>
          </a:blip>
          <a:srcRect b="5350" l="0" r="0" t="5341"/>
          <a:stretch/>
        </p:blipFill>
        <p:spPr>
          <a:xfrm>
            <a:off x="571500" y="4048125"/>
            <a:ext cx="55911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8" name="Google Shape;63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6700"/>
            <a:ext cx="1781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9" name="Google Shape;63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38950" y="2124075"/>
            <a:ext cx="47625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9"/>
          <p:cNvSpPr txBox="1"/>
          <p:nvPr/>
        </p:nvSpPr>
        <p:spPr>
          <a:xfrm>
            <a:off x="1200150" y="1524000"/>
            <a:ext cx="521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Digital Event Schedule</a:t>
            </a:r>
            <a:endParaRPr/>
          </a:p>
        </p:txBody>
      </p:sp>
      <p:sp>
        <p:nvSpPr>
          <p:cNvPr id="641" name="Google Shape;641;p29"/>
          <p:cNvSpPr txBox="1"/>
          <p:nvPr/>
        </p:nvSpPr>
        <p:spPr>
          <a:xfrm>
            <a:off x="885825" y="1952625"/>
            <a:ext cx="527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Interactive event calendar application module tracking:</a:t>
            </a:r>
            <a:endParaRPr/>
          </a:p>
        </p:txBody>
      </p:sp>
      <p:sp>
        <p:nvSpPr>
          <p:cNvPr id="642" name="Google Shape;642;p29"/>
          <p:cNvSpPr txBox="1"/>
          <p:nvPr/>
        </p:nvSpPr>
        <p:spPr>
          <a:xfrm>
            <a:off x="1257300" y="4219575"/>
            <a:ext cx="5150700" cy="3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Platform Expansion Vision</a:t>
            </a:r>
            <a:endParaRPr b="1" sz="1950">
              <a:solidFill>
                <a:srgbClr val="0F172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3" name="Google Shape;643;p29"/>
          <p:cNvSpPr txBox="1"/>
          <p:nvPr/>
        </p:nvSpPr>
        <p:spPr>
          <a:xfrm>
            <a:off x="885825" y="4600575"/>
            <a:ext cx="5277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Designed as a scalable architecture supporting: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644" name="Google Shape;64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15668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5" name="Google Shape;645;p29"/>
          <p:cNvPicPr preferRelativeResize="0"/>
          <p:nvPr/>
        </p:nvPicPr>
        <p:blipFill rotWithShape="1">
          <a:blip r:embed="rId10">
            <a:alphaModFix/>
          </a:blip>
          <a:srcRect b="2006" l="0" r="0" t="1997"/>
          <a:stretch/>
        </p:blipFill>
        <p:spPr>
          <a:xfrm>
            <a:off x="885825" y="4262438"/>
            <a:ext cx="2571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9"/>
          <p:cNvSpPr txBox="1"/>
          <p:nvPr/>
        </p:nvSpPr>
        <p:spPr>
          <a:xfrm>
            <a:off x="1152525" y="2352675"/>
            <a:ext cx="23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Marathon Expo</a:t>
            </a:r>
            <a:endParaRPr/>
          </a:p>
        </p:txBody>
      </p:sp>
      <p:sp>
        <p:nvSpPr>
          <p:cNvPr id="647" name="Google Shape;647;p29"/>
          <p:cNvSpPr txBox="1"/>
          <p:nvPr/>
        </p:nvSpPr>
        <p:spPr>
          <a:xfrm>
            <a:off x="1152525" y="2771775"/>
            <a:ext cx="23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Bib Collection</a:t>
            </a:r>
            <a:endParaRPr/>
          </a:p>
        </p:txBody>
      </p:sp>
      <p:sp>
        <p:nvSpPr>
          <p:cNvPr id="648" name="Google Shape;648;p29"/>
          <p:cNvSpPr txBox="1"/>
          <p:nvPr/>
        </p:nvSpPr>
        <p:spPr>
          <a:xfrm>
            <a:off x="1152525" y="3190875"/>
            <a:ext cx="23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Press Conference</a:t>
            </a:r>
            <a:endParaRPr/>
          </a:p>
        </p:txBody>
      </p:sp>
      <p:sp>
        <p:nvSpPr>
          <p:cNvPr id="649" name="Google Shape;649;p29"/>
          <p:cNvSpPr txBox="1"/>
          <p:nvPr/>
        </p:nvSpPr>
        <p:spPr>
          <a:xfrm>
            <a:off x="1152525" y="3609975"/>
            <a:ext cx="23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Opening Ceremony</a:t>
            </a:r>
            <a:endParaRPr/>
          </a:p>
        </p:txBody>
      </p:sp>
      <p:sp>
        <p:nvSpPr>
          <p:cNvPr id="650" name="Google Shape;650;p29"/>
          <p:cNvSpPr txBox="1"/>
          <p:nvPr/>
        </p:nvSpPr>
        <p:spPr>
          <a:xfrm>
            <a:off x="3838575" y="2352675"/>
            <a:ext cx="23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Race Start Timeline</a:t>
            </a:r>
            <a:endParaRPr/>
          </a:p>
        </p:txBody>
      </p:sp>
      <p:sp>
        <p:nvSpPr>
          <p:cNvPr id="651" name="Google Shape;651;p29"/>
          <p:cNvSpPr txBox="1"/>
          <p:nvPr/>
        </p:nvSpPr>
        <p:spPr>
          <a:xfrm>
            <a:off x="3838575" y="2771775"/>
            <a:ext cx="23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Prize Distribution</a:t>
            </a:r>
            <a:endParaRPr/>
          </a:p>
        </p:txBody>
      </p:sp>
      <p:sp>
        <p:nvSpPr>
          <p:cNvPr id="652" name="Google Shape;652;p29"/>
          <p:cNvSpPr txBox="1"/>
          <p:nvPr/>
        </p:nvSpPr>
        <p:spPr>
          <a:xfrm>
            <a:off x="3838575" y="3190875"/>
            <a:ext cx="232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Closing Ceremony</a:t>
            </a:r>
            <a:endParaRPr/>
          </a:p>
        </p:txBody>
      </p:sp>
      <p:sp>
        <p:nvSpPr>
          <p:cNvPr id="653" name="Google Shape;653;p29"/>
          <p:cNvSpPr txBox="1"/>
          <p:nvPr/>
        </p:nvSpPr>
        <p:spPr>
          <a:xfrm>
            <a:off x="1152525" y="4953000"/>
            <a:ext cx="2324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Multiple Marathon Events</a:t>
            </a:r>
            <a:endParaRPr b="0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29"/>
          <p:cNvSpPr txBox="1"/>
          <p:nvPr/>
        </p:nvSpPr>
        <p:spPr>
          <a:xfrm>
            <a:off x="1152525" y="5286375"/>
            <a:ext cx="2324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Multi-language Support</a:t>
            </a:r>
            <a:endParaRPr b="0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Google Shape;655;p29"/>
          <p:cNvSpPr txBox="1"/>
          <p:nvPr/>
        </p:nvSpPr>
        <p:spPr>
          <a:xfrm>
            <a:off x="1152525" y="5619750"/>
            <a:ext cx="2324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State &amp; National Series</a:t>
            </a:r>
            <a:endParaRPr b="0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Google Shape;656;p29"/>
          <p:cNvSpPr txBox="1"/>
          <p:nvPr/>
        </p:nvSpPr>
        <p:spPr>
          <a:xfrm>
            <a:off x="1152525" y="5953125"/>
            <a:ext cx="23907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AI-powered Personalization</a:t>
            </a:r>
            <a:endParaRPr b="0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7" name="Google Shape;657;p29"/>
          <p:cNvSpPr txBox="1"/>
          <p:nvPr/>
        </p:nvSpPr>
        <p:spPr>
          <a:xfrm>
            <a:off x="3838575" y="4953000"/>
            <a:ext cx="2324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Cloud-native Infrastructure</a:t>
            </a:r>
            <a:endParaRPr b="0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8" name="Google Shape;658;p29"/>
          <p:cNvSpPr txBox="1"/>
          <p:nvPr/>
        </p:nvSpPr>
        <p:spPr>
          <a:xfrm>
            <a:off x="3838575" y="5429250"/>
            <a:ext cx="2324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API-first Architecture</a:t>
            </a:r>
            <a:endParaRPr b="0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9" name="Google Shape;659;p29"/>
          <p:cNvSpPr txBox="1"/>
          <p:nvPr/>
        </p:nvSpPr>
        <p:spPr>
          <a:xfrm>
            <a:off x="3838575" y="5762625"/>
            <a:ext cx="2324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Availability Deployment</a:t>
            </a:r>
            <a:endParaRPr b="0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0" name="Google Shape;660;p29"/>
          <p:cNvSpPr txBox="1"/>
          <p:nvPr/>
        </p:nvSpPr>
        <p:spPr>
          <a:xfrm>
            <a:off x="885825" y="24098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1" name="Google Shape;661;p29"/>
          <p:cNvSpPr txBox="1"/>
          <p:nvPr/>
        </p:nvSpPr>
        <p:spPr>
          <a:xfrm>
            <a:off x="885825" y="28289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2" name="Google Shape;662;p29"/>
          <p:cNvSpPr txBox="1"/>
          <p:nvPr/>
        </p:nvSpPr>
        <p:spPr>
          <a:xfrm>
            <a:off x="885825" y="32480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3" name="Google Shape;663;p29"/>
          <p:cNvSpPr txBox="1"/>
          <p:nvPr/>
        </p:nvSpPr>
        <p:spPr>
          <a:xfrm>
            <a:off x="885825" y="36671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4" name="Google Shape;664;p29"/>
          <p:cNvSpPr txBox="1"/>
          <p:nvPr/>
        </p:nvSpPr>
        <p:spPr>
          <a:xfrm>
            <a:off x="3571875" y="24098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5" name="Google Shape;665;p29"/>
          <p:cNvSpPr txBox="1"/>
          <p:nvPr/>
        </p:nvSpPr>
        <p:spPr>
          <a:xfrm>
            <a:off x="3571875" y="28289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6" name="Google Shape;666;p29"/>
          <p:cNvSpPr txBox="1"/>
          <p:nvPr/>
        </p:nvSpPr>
        <p:spPr>
          <a:xfrm>
            <a:off x="3571875" y="32480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885825" y="4991100"/>
            <a:ext cx="76200" cy="10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6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sz="656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29"/>
          <p:cNvSpPr txBox="1"/>
          <p:nvPr/>
        </p:nvSpPr>
        <p:spPr>
          <a:xfrm>
            <a:off x="885825" y="5324475"/>
            <a:ext cx="76200" cy="10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6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sz="656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29"/>
          <p:cNvSpPr txBox="1"/>
          <p:nvPr/>
        </p:nvSpPr>
        <p:spPr>
          <a:xfrm>
            <a:off x="885825" y="5657850"/>
            <a:ext cx="76200" cy="10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6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sz="656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0" name="Google Shape;670;p29"/>
          <p:cNvSpPr txBox="1"/>
          <p:nvPr/>
        </p:nvSpPr>
        <p:spPr>
          <a:xfrm>
            <a:off x="885825" y="5991225"/>
            <a:ext cx="76200" cy="10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6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sz="656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1" name="Google Shape;671;p29"/>
          <p:cNvSpPr txBox="1"/>
          <p:nvPr/>
        </p:nvSpPr>
        <p:spPr>
          <a:xfrm>
            <a:off x="3571875" y="4991100"/>
            <a:ext cx="76200" cy="10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6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sz="656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2" name="Google Shape;672;p29"/>
          <p:cNvSpPr txBox="1"/>
          <p:nvPr/>
        </p:nvSpPr>
        <p:spPr>
          <a:xfrm>
            <a:off x="3571875" y="5467350"/>
            <a:ext cx="76200" cy="10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6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sz="656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3" name="Google Shape;673;p29"/>
          <p:cNvSpPr txBox="1"/>
          <p:nvPr/>
        </p:nvSpPr>
        <p:spPr>
          <a:xfrm>
            <a:off x="3571875" y="5800725"/>
            <a:ext cx="76200" cy="10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6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b="0" sz="656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4" name="Google Shape;674;p29"/>
          <p:cNvSpPr txBox="1"/>
          <p:nvPr/>
        </p:nvSpPr>
        <p:spPr>
          <a:xfrm>
            <a:off x="571500" y="381000"/>
            <a:ext cx="1035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Event Schedule &amp; Future Expansion Roadmap </a:t>
            </a:r>
            <a:endParaRPr/>
          </a:p>
        </p:txBody>
      </p:sp>
      <p:sp>
        <p:nvSpPr>
          <p:cNvPr id="675" name="Google Shape;675;p29"/>
          <p:cNvSpPr/>
          <p:nvPr/>
        </p:nvSpPr>
        <p:spPr>
          <a:xfrm>
            <a:off x="571500" y="971550"/>
            <a:ext cx="11049000" cy="28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0" name="Google Shape;6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0"/>
          <p:cNvSpPr/>
          <p:nvPr/>
        </p:nvSpPr>
        <p:spPr>
          <a:xfrm>
            <a:off x="571500" y="1285875"/>
            <a:ext cx="11049000" cy="3786187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2" name="Google Shape;682;p30"/>
          <p:cNvGraphicFramePr/>
          <p:nvPr/>
        </p:nvGraphicFramePr>
        <p:xfrm>
          <a:off x="571500" y="1125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{24B43841-686D-4D19-8685-EDB036DF6FB3}</a:tableStyleId>
              </a:tblPr>
              <a:tblGrid>
                <a:gridCol w="1108025"/>
                <a:gridCol w="1554200"/>
                <a:gridCol w="8386750"/>
              </a:tblGrid>
              <a:tr h="75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Duration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Focus Areas (Web &amp; Mobile Platform)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</a:tr>
              <a:tr h="7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Weeks 1 –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Rebranding to Rajgir, AWS S3 storage setup, Security hardening, Public Web Portal, Tourism section, Route Maps.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Weeks 5 –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Multi-tier Registration, Razorpay integration, Digital BIB engine, Tax Invoices, Runner Dashboard, Mobile Auth.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Weeks 9 – 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Volunteer Portal, Sponsor Inventory Portal, Corporate Dashboard, Training Calculators, Mobile Map &amp; Push.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Weeks 12 – 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Live Results Engine, RFID Data Ingestion, PDF Certificate Engine, Security Audit, Store Publishing, Go-Live.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683" name="Google Shape;68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8150"/>
            <a:ext cx="1057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0"/>
          <p:cNvSpPr/>
          <p:nvPr/>
        </p:nvSpPr>
        <p:spPr>
          <a:xfrm>
            <a:off x="571500" y="1852612"/>
            <a:ext cx="1108025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0"/>
          <p:cNvSpPr/>
          <p:nvPr/>
        </p:nvSpPr>
        <p:spPr>
          <a:xfrm>
            <a:off x="1679525" y="1852612"/>
            <a:ext cx="1554212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0"/>
          <p:cNvSpPr/>
          <p:nvPr/>
        </p:nvSpPr>
        <p:spPr>
          <a:xfrm>
            <a:off x="3233737" y="1852612"/>
            <a:ext cx="8386762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571500" y="2675334"/>
            <a:ext cx="110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1679525" y="2675334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/>
          <p:nvPr/>
        </p:nvSpPr>
        <p:spPr>
          <a:xfrm>
            <a:off x="3233737" y="2675334"/>
            <a:ext cx="838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571500" y="3469481"/>
            <a:ext cx="110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1679525" y="3469481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3233737" y="3469481"/>
            <a:ext cx="838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571500" y="4263628"/>
            <a:ext cx="110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1679525" y="4263628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3233737" y="4263628"/>
            <a:ext cx="838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571500" y="5057775"/>
            <a:ext cx="110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1679525" y="5057775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3233737" y="5057775"/>
            <a:ext cx="838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3.5-Month (14-Week) Execution Roadmap </a:t>
            </a:r>
            <a:endParaRPr/>
          </a:p>
        </p:txBody>
      </p:sp>
      <p:sp>
        <p:nvSpPr>
          <p:cNvPr id="700" name="Google Shape;700;p30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5" name="Google Shape;7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1"/>
          <p:cNvSpPr/>
          <p:nvPr/>
        </p:nvSpPr>
        <p:spPr>
          <a:xfrm>
            <a:off x="571500" y="1285875"/>
            <a:ext cx="11049000" cy="53916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7" name="Google Shape;707;p31"/>
          <p:cNvGraphicFramePr/>
          <p:nvPr/>
        </p:nvGraphicFramePr>
        <p:xfrm>
          <a:off x="571500" y="1285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{24B43841-686D-4D19-8685-EDB036DF6FB3}</a:tableStyleId>
              </a:tblPr>
              <a:tblGrid>
                <a:gridCol w="2038350"/>
                <a:gridCol w="1920175"/>
                <a:gridCol w="3025075"/>
                <a:gridCol w="3992150"/>
              </a:tblGrid>
              <a:tr h="8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Service 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Provider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Purpose / Billing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4AF37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Approx. Cost (INR ₹)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</a:tr>
              <a:tr h="7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Hosting &amp; CDN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DigitalOcean / AWS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 &amp; DB hosting (Monthly)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₹4,000 – ₹8,000 /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Media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AWS 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Asset &amp; image storage (Monthly)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₹1,500 – ₹3,500 /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SMS Gateway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MSG91 / Twilio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Phone OTP &amp; SMS alerts (One-time)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₹3,000 – ₹7,000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WhatsApp Business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Interakt / Gupshup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Automated notification alerts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₹4,000 – ₹10,000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Payment Gateway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Razorpay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Online checkout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2% + GST per txn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 Store Accounts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Apple &amp; Google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Publisher accounts (One-time/yr)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₹9,600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708" name="Google Shape;70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8150"/>
            <a:ext cx="952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31"/>
          <p:cNvSpPr/>
          <p:nvPr/>
        </p:nvSpPr>
        <p:spPr>
          <a:xfrm>
            <a:off x="571500" y="2109787"/>
            <a:ext cx="203835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2609850" y="2109787"/>
            <a:ext cx="192018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4530030" y="2109787"/>
            <a:ext cx="302508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7555110" y="2109787"/>
            <a:ext cx="2013495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9568606" y="2109787"/>
            <a:ext cx="2051893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571500" y="2932509"/>
            <a:ext cx="2038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1"/>
          <p:cNvSpPr/>
          <p:nvPr/>
        </p:nvSpPr>
        <p:spPr>
          <a:xfrm>
            <a:off x="2609850" y="2932509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4530030" y="2932509"/>
            <a:ext cx="302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7555110" y="2932509"/>
            <a:ext cx="20134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9568606" y="2932509"/>
            <a:ext cx="2051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571500" y="3726656"/>
            <a:ext cx="2038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2609850" y="3726656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4530030" y="3726656"/>
            <a:ext cx="302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7555110" y="3726656"/>
            <a:ext cx="20134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9568606" y="3726656"/>
            <a:ext cx="2051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1"/>
          <p:cNvSpPr/>
          <p:nvPr/>
        </p:nvSpPr>
        <p:spPr>
          <a:xfrm>
            <a:off x="571500" y="4520803"/>
            <a:ext cx="2038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2609850" y="4520803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4530030" y="4520803"/>
            <a:ext cx="302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7555110" y="4520803"/>
            <a:ext cx="20134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/>
          <p:nvPr/>
        </p:nvSpPr>
        <p:spPr>
          <a:xfrm>
            <a:off x="9568606" y="4520803"/>
            <a:ext cx="2051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1"/>
          <p:cNvSpPr/>
          <p:nvPr/>
        </p:nvSpPr>
        <p:spPr>
          <a:xfrm>
            <a:off x="571500" y="5314950"/>
            <a:ext cx="2038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2609850" y="5314950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4530030" y="5314950"/>
            <a:ext cx="302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7555110" y="5314950"/>
            <a:ext cx="20134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/>
          <p:nvPr/>
        </p:nvSpPr>
        <p:spPr>
          <a:xfrm>
            <a:off x="9568606" y="5314950"/>
            <a:ext cx="2051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1"/>
          <p:cNvSpPr/>
          <p:nvPr/>
        </p:nvSpPr>
        <p:spPr>
          <a:xfrm>
            <a:off x="571500" y="5869185"/>
            <a:ext cx="2038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2609850" y="586918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4530030" y="5869185"/>
            <a:ext cx="302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7555110" y="5869185"/>
            <a:ext cx="20134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/>
          <p:nvPr/>
        </p:nvSpPr>
        <p:spPr>
          <a:xfrm>
            <a:off x="9568606" y="5869185"/>
            <a:ext cx="2051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1"/>
          <p:cNvSpPr/>
          <p:nvPr/>
        </p:nvSpPr>
        <p:spPr>
          <a:xfrm>
            <a:off x="571500" y="6663332"/>
            <a:ext cx="2038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2609850" y="6663332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4530030" y="6663332"/>
            <a:ext cx="302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7555110" y="6663332"/>
            <a:ext cx="20134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9568606" y="6663332"/>
            <a:ext cx="2051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1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Third-Party Infrastructure &amp; Operational Budgeting</a:t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0" name="Google Shape;7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1" name="Google Shape;75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53340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2" name="Google Shape;75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85875"/>
            <a:ext cx="533400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3" name="Google Shape;75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150"/>
            <a:ext cx="10953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4" name="Google Shape;75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145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32"/>
          <p:cNvSpPr txBox="1"/>
          <p:nvPr/>
        </p:nvSpPr>
        <p:spPr>
          <a:xfrm>
            <a:off x="866775" y="2400300"/>
            <a:ext cx="498062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Tangible Project Deliverables</a:t>
            </a:r>
            <a:endParaRPr/>
          </a:p>
        </p:txBody>
      </p:sp>
      <p:pic>
        <p:nvPicPr>
          <p:cNvPr descr="image.png" id="756" name="Google Shape;756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17145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32"/>
          <p:cNvSpPr txBox="1"/>
          <p:nvPr/>
        </p:nvSpPr>
        <p:spPr>
          <a:xfrm>
            <a:off x="6581775" y="2400300"/>
            <a:ext cx="498062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Immediate Next Steps</a:t>
            </a:r>
            <a:endParaRPr/>
          </a:p>
        </p:txBody>
      </p:sp>
      <p:pic>
        <p:nvPicPr>
          <p:cNvPr descr="image.png" id="758" name="Google Shape;758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0125" y="18478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32"/>
          <p:cNvSpPr txBox="1"/>
          <p:nvPr/>
        </p:nvSpPr>
        <p:spPr>
          <a:xfrm>
            <a:off x="1095375" y="302121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Production Web Portal: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Live deployment on `rajgirmarathon.com`.</a:t>
            </a:r>
            <a:endParaRPr/>
          </a:p>
        </p:txBody>
      </p:sp>
      <p:sp>
        <p:nvSpPr>
          <p:cNvPr id="760" name="Google Shape;760;p32"/>
          <p:cNvSpPr txBox="1"/>
          <p:nvPr/>
        </p:nvSpPr>
        <p:spPr>
          <a:xfrm>
            <a:off x="1095375" y="364986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Native Mobile Apps: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Published iOS &amp; Android apps on Apple App Store &amp; Google Play.</a:t>
            </a:r>
            <a:endParaRPr/>
          </a:p>
        </p:txBody>
      </p:sp>
      <p:sp>
        <p:nvSpPr>
          <p:cNvPr id="761" name="Google Shape;761;p32"/>
          <p:cNvSpPr txBox="1"/>
          <p:nvPr/>
        </p:nvSpPr>
        <p:spPr>
          <a:xfrm>
            <a:off x="1095375" y="427851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Admin Control Center: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Complete back-office management console for organizers.</a:t>
            </a:r>
            <a:endParaRPr/>
          </a:p>
        </p:txBody>
      </p:sp>
      <p:sp>
        <p:nvSpPr>
          <p:cNvPr id="762" name="Google Shape;762;p32"/>
          <p:cNvSpPr txBox="1"/>
          <p:nvPr/>
        </p:nvSpPr>
        <p:spPr>
          <a:xfrm>
            <a:off x="1095375" y="490716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 Code Repositories: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Fully documented Git repositories &amp; Swagger API docs.</a:t>
            </a:r>
            <a:endParaRPr/>
          </a:p>
        </p:txBody>
      </p:sp>
      <p:pic>
        <p:nvPicPr>
          <p:cNvPr descr="image.png" id="763" name="Google Shape;763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15125" y="18478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32"/>
          <p:cNvSpPr txBox="1"/>
          <p:nvPr/>
        </p:nvSpPr>
        <p:spPr>
          <a:xfrm>
            <a:off x="6810375" y="302121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Scope of Work Formal Sign-off: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Approve execution of SOW.</a:t>
            </a:r>
            <a:endParaRPr/>
          </a:p>
        </p:txBody>
      </p:sp>
      <p:sp>
        <p:nvSpPr>
          <p:cNvPr id="765" name="Google Shape;765;p32"/>
          <p:cNvSpPr txBox="1"/>
          <p:nvPr/>
        </p:nvSpPr>
        <p:spPr>
          <a:xfrm>
            <a:off x="6810375" y="364986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Third-Party Credentials Setup: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AWS, Razorpay, MSG91, Apple/Google Accounts.</a:t>
            </a:r>
            <a:endParaRPr/>
          </a:p>
        </p:txBody>
      </p:sp>
      <p:sp>
        <p:nvSpPr>
          <p:cNvPr id="766" name="Google Shape;766;p32"/>
          <p:cNvSpPr txBox="1"/>
          <p:nvPr/>
        </p:nvSpPr>
        <p:spPr>
          <a:xfrm>
            <a:off x="6810375" y="427851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Phase 1 Execution Kickoff: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Initiate brand identity update &amp; AWS infrastructure stabilization.</a:t>
            </a:r>
            <a:endParaRPr/>
          </a:p>
        </p:txBody>
      </p:sp>
      <p:sp>
        <p:nvSpPr>
          <p:cNvPr id="767" name="Google Shape;767;p32"/>
          <p:cNvSpPr txBox="1"/>
          <p:nvPr/>
        </p:nvSpPr>
        <p:spPr>
          <a:xfrm>
            <a:off x="866775" y="30593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768" name="Google Shape;768;p32"/>
          <p:cNvSpPr txBox="1"/>
          <p:nvPr/>
        </p:nvSpPr>
        <p:spPr>
          <a:xfrm>
            <a:off x="866775" y="368796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769" name="Google Shape;769;p32"/>
          <p:cNvSpPr txBox="1"/>
          <p:nvPr/>
        </p:nvSpPr>
        <p:spPr>
          <a:xfrm>
            <a:off x="866775" y="43166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770" name="Google Shape;770;p32"/>
          <p:cNvSpPr txBox="1"/>
          <p:nvPr/>
        </p:nvSpPr>
        <p:spPr>
          <a:xfrm>
            <a:off x="866775" y="494526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771" name="Google Shape;771;p32"/>
          <p:cNvSpPr txBox="1"/>
          <p:nvPr/>
        </p:nvSpPr>
        <p:spPr>
          <a:xfrm>
            <a:off x="6581775" y="30593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772" name="Google Shape;772;p32"/>
          <p:cNvSpPr txBox="1"/>
          <p:nvPr/>
        </p:nvSpPr>
        <p:spPr>
          <a:xfrm>
            <a:off x="6581775" y="368796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773" name="Google Shape;773;p32"/>
          <p:cNvSpPr txBox="1"/>
          <p:nvPr/>
        </p:nvSpPr>
        <p:spPr>
          <a:xfrm>
            <a:off x="6581775" y="431661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774" name="Google Shape;774;p32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A202C"/>
                </a:solidFill>
                <a:latin typeface="Outfit"/>
                <a:ea typeface="Outfit"/>
                <a:cs typeface="Outfit"/>
                <a:sym typeface="Outfit"/>
              </a:rPr>
              <a:t> Project Deliverables &amp; Rollout Plan </a:t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